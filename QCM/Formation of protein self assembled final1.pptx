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82" r:id="rId5"/>
    <p:sldId id="260" r:id="rId6"/>
    <p:sldId id="287" r:id="rId7"/>
    <p:sldId id="262" r:id="rId8"/>
    <p:sldId id="264" r:id="rId9"/>
    <p:sldId id="290" r:id="rId10"/>
    <p:sldId id="289" r:id="rId11"/>
    <p:sldId id="265" r:id="rId12"/>
    <p:sldId id="269" r:id="rId13"/>
    <p:sldId id="297" r:id="rId14"/>
    <p:sldId id="268" r:id="rId15"/>
    <p:sldId id="276" r:id="rId16"/>
    <p:sldId id="275" r:id="rId17"/>
    <p:sldId id="286" r:id="rId18"/>
    <p:sldId id="292" r:id="rId19"/>
    <p:sldId id="259" r:id="rId20"/>
    <p:sldId id="291" r:id="rId2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06ECB4E9-2386-4592-BE8D-6C4F352E7AD1}">
          <p14:sldIdLst>
            <p14:sldId id="256"/>
            <p14:sldId id="257"/>
            <p14:sldId id="258"/>
            <p14:sldId id="282"/>
            <p14:sldId id="260"/>
            <p14:sldId id="287"/>
            <p14:sldId id="262"/>
            <p14:sldId id="264"/>
            <p14:sldId id="290"/>
            <p14:sldId id="289"/>
            <p14:sldId id="265"/>
            <p14:sldId id="269"/>
            <p14:sldId id="297"/>
            <p14:sldId id="268"/>
            <p14:sldId id="276"/>
            <p14:sldId id="275"/>
          </p14:sldIdLst>
        </p14:section>
        <p14:section name="Untitled Section" id="{82ECEE11-E6C6-42C5-ABF2-05C1E07F1821}">
          <p14:sldIdLst>
            <p14:sldId id="286"/>
            <p14:sldId id="292"/>
            <p14:sldId id="259"/>
            <p14:sldId id="291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80" autoAdjust="0"/>
    <p:restoredTop sz="94660"/>
  </p:normalViewPr>
  <p:slideViewPr>
    <p:cSldViewPr snapToGrid="0">
      <p:cViewPr varScale="1">
        <p:scale>
          <a:sx n="86" d="100"/>
          <a:sy n="86" d="100"/>
        </p:scale>
        <p:origin x="470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6E2D26-6CD5-441D-9DD9-4BB702ACBB91}" type="datetimeFigureOut">
              <a:rPr lang="en-US" smtClean="0"/>
              <a:t>1/8/2023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076C4D-2565-4EC2-823D-E889DC8C0952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6E2D26-6CD5-441D-9DD9-4BB702ACBB91}" type="datetimeFigureOut">
              <a:rPr lang="en-US" smtClean="0"/>
              <a:t>1/8/2023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076C4D-2565-4EC2-823D-E889DC8C0952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6E2D26-6CD5-441D-9DD9-4BB702ACBB91}" type="datetimeFigureOut">
              <a:rPr lang="en-US" smtClean="0"/>
              <a:t>1/8/2023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076C4D-2565-4EC2-823D-E889DC8C0952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6E2D26-6CD5-441D-9DD9-4BB702ACBB91}" type="datetimeFigureOut">
              <a:rPr lang="en-US" smtClean="0"/>
              <a:t>1/8/2023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076C4D-2565-4EC2-823D-E889DC8C0952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6E2D26-6CD5-441D-9DD9-4BB702ACBB91}" type="datetimeFigureOut">
              <a:rPr lang="en-US" smtClean="0"/>
              <a:t>1/8/2023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076C4D-2565-4EC2-823D-E889DC8C0952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6E2D26-6CD5-441D-9DD9-4BB702ACBB91}" type="datetimeFigureOut">
              <a:rPr lang="en-US" smtClean="0"/>
              <a:t>1/8/2023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076C4D-2565-4EC2-823D-E889DC8C0952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6E2D26-6CD5-441D-9DD9-4BB702ACBB91}" type="datetimeFigureOut">
              <a:rPr lang="en-US" smtClean="0"/>
              <a:t>1/8/2023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076C4D-2565-4EC2-823D-E889DC8C0952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6E2D26-6CD5-441D-9DD9-4BB702ACBB91}" type="datetimeFigureOut">
              <a:rPr lang="en-US" smtClean="0"/>
              <a:t>1/8/2023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076C4D-2565-4EC2-823D-E889DC8C0952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6E2D26-6CD5-441D-9DD9-4BB702ACBB91}" type="datetimeFigureOut">
              <a:rPr lang="en-US" smtClean="0"/>
              <a:t>1/8/2023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076C4D-2565-4EC2-823D-E889DC8C0952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6E2D26-6CD5-441D-9DD9-4BB702ACBB91}" type="datetimeFigureOut">
              <a:rPr lang="en-US" smtClean="0"/>
              <a:t>1/8/2023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076C4D-2565-4EC2-823D-E889DC8C0952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6E2D26-6CD5-441D-9DD9-4BB702ACBB91}" type="datetimeFigureOut">
              <a:rPr lang="en-US" smtClean="0"/>
              <a:t>1/8/2023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076C4D-2565-4EC2-823D-E889DC8C0952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36E2D26-6CD5-441D-9DD9-4BB702ACBB91}" type="datetimeFigureOut">
              <a:rPr lang="en-US" smtClean="0"/>
              <a:t>1/8/2023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B076C4D-2565-4EC2-823D-E889DC8C0952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8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2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8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91763" y="1201876"/>
            <a:ext cx="10678602" cy="1477714"/>
          </a:xfrm>
        </p:spPr>
        <p:txBody>
          <a:bodyPr>
            <a:noAutofit/>
          </a:bodyPr>
          <a:lstStyle/>
          <a:p>
            <a:r>
              <a:rPr lang="en-GB" sz="4000" b="1" dirty="0">
                <a:solidFill>
                  <a:srgbClr val="000000"/>
                </a:solidFill>
                <a:effectLst/>
                <a:ea typeface="Cambria" panose="02040503050406030204" pitchFamily="18" charset="0"/>
              </a:rPr>
              <a:t>Formation</a:t>
            </a:r>
            <a:r>
              <a:rPr lang="en-GB" sz="4000" b="1" dirty="0">
                <a:solidFill>
                  <a:srgbClr val="000000"/>
                </a:solidFill>
                <a:effectLst/>
              </a:rPr>
              <a:t> o</a:t>
            </a:r>
            <a:r>
              <a:rPr lang="en-US" sz="4000" b="1" dirty="0">
                <a:solidFill>
                  <a:srgbClr val="000000"/>
                </a:solidFill>
                <a:effectLst/>
              </a:rPr>
              <a:t>f</a:t>
            </a:r>
            <a:r>
              <a:rPr lang="en-GB" sz="4000" b="1" dirty="0">
                <a:solidFill>
                  <a:srgbClr val="000000"/>
                </a:solidFill>
                <a:effectLst/>
              </a:rPr>
              <a:t> protein self</a:t>
            </a:r>
            <a:r>
              <a:rPr lang="en-US" sz="4000" b="1" dirty="0">
                <a:solidFill>
                  <a:srgbClr val="000000"/>
                </a:solidFill>
                <a:effectLst/>
              </a:rPr>
              <a:t> </a:t>
            </a:r>
            <a:r>
              <a:rPr lang="en-GB" sz="4000" b="1" dirty="0">
                <a:solidFill>
                  <a:srgbClr val="000000"/>
                </a:solidFill>
                <a:effectLst/>
              </a:rPr>
              <a:t>assembled monolayer monitored by Quartz Crystal Micro-balance</a:t>
            </a:r>
            <a:endParaRPr lang="en-US" sz="4000" dirty="0"/>
          </a:p>
        </p:txBody>
      </p:sp>
      <p:sp>
        <p:nvSpPr>
          <p:cNvPr id="6" name="Subtitle 5"/>
          <p:cNvSpPr>
            <a:spLocks noGrp="1"/>
          </p:cNvSpPr>
          <p:nvPr>
            <p:ph type="subTitle" idx="1"/>
          </p:nvPr>
        </p:nvSpPr>
        <p:spPr>
          <a:xfrm>
            <a:off x="1375576" y="2941981"/>
            <a:ext cx="9899375" cy="1184744"/>
          </a:xfrm>
        </p:spPr>
        <p:txBody>
          <a:bodyPr>
            <a:normAutofit fontScale="25000" lnSpcReduction="20000"/>
          </a:bodyPr>
          <a:lstStyle/>
          <a:p>
            <a:pPr algn="just"/>
            <a:r>
              <a:rPr lang="en-US" sz="11200" dirty="0"/>
              <a:t>                          </a:t>
            </a:r>
            <a:endParaRPr lang="en-US" sz="11200" dirty="0">
              <a:latin typeface="+mj-lt"/>
            </a:endParaRPr>
          </a:p>
          <a:p>
            <a:pPr algn="just"/>
            <a:r>
              <a:rPr lang="en-GB" sz="12800" dirty="0">
                <a:latin typeface="+mj-lt"/>
              </a:rPr>
              <a:t>S.S.A.</a:t>
            </a:r>
            <a:r>
              <a:rPr lang="en-US" sz="12800" dirty="0">
                <a:latin typeface="+mj-lt"/>
              </a:rPr>
              <a:t> </a:t>
            </a:r>
            <a:r>
              <a:rPr lang="en-GB" sz="12800" dirty="0">
                <a:latin typeface="+mj-lt"/>
              </a:rPr>
              <a:t>Shah Bukhari,</a:t>
            </a:r>
            <a:r>
              <a:rPr lang="en-US" sz="12800" dirty="0">
                <a:latin typeface="+mj-lt"/>
              </a:rPr>
              <a:t> </a:t>
            </a:r>
            <a:r>
              <a:rPr lang="en-GB" sz="12800" dirty="0">
                <a:latin typeface="+mj-lt"/>
              </a:rPr>
              <a:t>Md Ramjan Ali and Sachin</a:t>
            </a:r>
            <a:r>
              <a:rPr lang="en-US" sz="12800" dirty="0">
                <a:latin typeface="+mj-lt"/>
              </a:rPr>
              <a:t> Raj</a:t>
            </a:r>
            <a:r>
              <a:rPr lang="en-GB" sz="12800" dirty="0">
                <a:latin typeface="+mj-lt"/>
              </a:rPr>
              <a:t> Pandey</a:t>
            </a:r>
            <a:endParaRPr lang="en-US" sz="12800" dirty="0">
              <a:latin typeface="+mj-lt"/>
            </a:endParaRPr>
          </a:p>
          <a:p>
            <a:pPr algn="just"/>
            <a:r>
              <a:rPr lang="en-US" sz="12800" dirty="0">
                <a:latin typeface="+mj-lt"/>
              </a:rPr>
              <a:t>                                    02.01.2023</a:t>
            </a:r>
          </a:p>
        </p:txBody>
      </p:sp>
      <p:pic>
        <p:nvPicPr>
          <p:cNvPr id="5" name="Picture 4" descr="Logo&#10;&#10;Description automatically generated with medium confidence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30788" y="15905"/>
            <a:ext cx="2345310" cy="437322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224501" y="2228293"/>
            <a:ext cx="7241073" cy="3844433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3600" dirty="0">
                <a:effectLst/>
                <a:cs typeface="Arial" panose="020B0604020202020204" pitchFamily="34" charset="0"/>
              </a:rPr>
              <a:t>1. Piezoelectric effect</a:t>
            </a:r>
          </a:p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3600" dirty="0">
                <a:cs typeface="Arial" panose="020B0604020202020204" pitchFamily="34" charset="0"/>
              </a:rPr>
              <a:t>2. </a:t>
            </a:r>
            <a:r>
              <a:rPr lang="en-US" sz="3600" dirty="0">
                <a:effectLst/>
                <a:cs typeface="Arial" panose="020B0604020202020204" pitchFamily="34" charset="0"/>
              </a:rPr>
              <a:t>Re</a:t>
            </a:r>
            <a:r>
              <a:rPr lang="en-US" sz="3600" dirty="0">
                <a:cs typeface="Arial" panose="020B0604020202020204" pitchFamily="34" charset="0"/>
              </a:rPr>
              <a:t>sonator</a:t>
            </a:r>
          </a:p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3600" dirty="0">
                <a:effectLst/>
                <a:cs typeface="Arial" panose="020B0604020202020204" pitchFamily="34" charset="0"/>
              </a:rPr>
              <a:t>3. </a:t>
            </a:r>
            <a:r>
              <a:rPr lang="en-US" sz="3600" dirty="0">
                <a:cs typeface="Arial" panose="020B0604020202020204" pitchFamily="34" charset="0"/>
              </a:rPr>
              <a:t>Mass deposition and sensitivity  </a:t>
            </a:r>
          </a:p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3200" dirty="0">
                <a:cs typeface="Arial" panose="020B0604020202020204" pitchFamily="34" charset="0"/>
              </a:rPr>
              <a:t>4.  </a:t>
            </a:r>
            <a:r>
              <a:rPr lang="en-US" sz="3600" dirty="0">
                <a:cs typeface="Arial" panose="020B0604020202020204" pitchFamily="34" charset="0"/>
              </a:rPr>
              <a:t>Experimental s</a:t>
            </a:r>
            <a:r>
              <a:rPr lang="en-US" sz="3600" dirty="0" err="1">
                <a:cs typeface="Arial" panose="020B0604020202020204" pitchFamily="34" charset="0"/>
              </a:rPr>
              <a:t>etup</a:t>
            </a:r>
            <a:endParaRPr lang="en-US" sz="3600" dirty="0">
              <a:cs typeface="Arial" panose="020B0604020202020204" pitchFamily="34" charset="0"/>
            </a:endParaRPr>
          </a:p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3600" dirty="0">
                <a:cs typeface="Arial" panose="020B0604020202020204" pitchFamily="34" charset="0"/>
              </a:rPr>
              <a:t>5. Data a</a:t>
            </a:r>
            <a:r>
              <a:rPr lang="en-US" sz="3600" dirty="0" err="1">
                <a:cs typeface="Arial" panose="020B0604020202020204" pitchFamily="34" charset="0"/>
              </a:rPr>
              <a:t>nalysis</a:t>
            </a:r>
            <a:r>
              <a:rPr lang="en-US" sz="3600" dirty="0">
                <a:cs typeface="Arial" panose="020B0604020202020204" pitchFamily="34" charset="0"/>
              </a:rPr>
              <a:t> and r</a:t>
            </a:r>
            <a:r>
              <a:rPr lang="en-US" sz="3600" dirty="0" err="1">
                <a:cs typeface="Arial" panose="020B0604020202020204" pitchFamily="34" charset="0"/>
              </a:rPr>
              <a:t>esult</a:t>
            </a:r>
            <a:r>
              <a:rPr lang="en-US" sz="3600" dirty="0">
                <a:cs typeface="Arial" panose="020B0604020202020204" pitchFamily="34" charset="0"/>
              </a:rPr>
              <a:t>s</a:t>
            </a:r>
          </a:p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3600" dirty="0">
                <a:cs typeface="Arial" panose="020B0604020202020204" pitchFamily="34" charset="0"/>
              </a:rPr>
              <a:t>6. Conclusion</a:t>
            </a:r>
            <a:endParaRPr lang="en-US" sz="4400" dirty="0">
              <a:cs typeface="Arial" panose="020B0604020202020204" pitchFamily="34" charset="0"/>
            </a:endParaRPr>
          </a:p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3600" dirty="0">
                <a:cs typeface="Arial" panose="020B0604020202020204" pitchFamily="34" charset="0"/>
              </a:rPr>
              <a:t>7. Application</a:t>
            </a:r>
            <a:endParaRPr lang="en-US" b="1" u="sng" dirty="0">
              <a:cs typeface="Arial" panose="020B0604020202020204" pitchFamily="34" charset="0"/>
            </a:endParaRPr>
          </a:p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b="1" u="sng" dirty="0">
                <a:cs typeface="Arial" panose="020B0604020202020204" pitchFamily="34" charset="0"/>
              </a:rPr>
              <a:t>        </a:t>
            </a:r>
          </a:p>
        </p:txBody>
      </p:sp>
      <p:pic>
        <p:nvPicPr>
          <p:cNvPr id="3" name="Picture 2" descr="Logo&#10;&#10;Description automatically generated with medium confidence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14886" y="15905"/>
            <a:ext cx="2345310" cy="54863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680456" y="1074102"/>
            <a:ext cx="282309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/>
              <a:t>Overview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Logo&#10;&#10;Description automatically generated with medium confidence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14886" y="15905"/>
            <a:ext cx="2345310" cy="548638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4050891" y="94965"/>
            <a:ext cx="486696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200" b="1" dirty="0">
                <a:solidFill>
                  <a:srgbClr val="000000"/>
                </a:solidFill>
                <a:effectLst/>
                <a:cs typeface="Arial" panose="020B0604020202020204" pitchFamily="34" charset="0"/>
              </a:rPr>
              <a:t>Piezoelectric effect</a:t>
            </a:r>
            <a:endParaRPr lang="en-US" sz="2400" b="1" dirty="0">
              <a:solidFill>
                <a:srgbClr val="000000"/>
              </a:solidFill>
              <a:effectLst/>
              <a:cs typeface="Arial" panose="020B0604020202020204" pitchFamily="34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367150" y="1234001"/>
            <a:ext cx="9632283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Conversion of mechanical energy to electrical energy or electrical energy to mechanical energy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Mechanical or electrical stress causes crystal deformation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400" dirty="0"/>
              <a:t>Crystal</a:t>
            </a:r>
            <a:r>
              <a:rPr lang="en-US" sz="2400" dirty="0"/>
              <a:t> deformation gives voltage or vibration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2965143" y="19373"/>
            <a:ext cx="575607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/>
              <a:t>Forward Piezoelectric Effect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/>
              <p:cNvSpPr txBox="1"/>
              <p:nvPr/>
            </p:nvSpPr>
            <p:spPr>
              <a:xfrm>
                <a:off x="2035205" y="1454210"/>
                <a:ext cx="1391579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sz="2400" b="1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400" b="1" i="1" smtClean="0">
                            <a:latin typeface="Cambria Math" panose="02040503050406030204" pitchFamily="18" charset="0"/>
                          </a:rPr>
                          <m:t>𝑷</m:t>
                        </m:r>
                      </m:e>
                    </m:acc>
                  </m:oMath>
                </a14:m>
                <a:r>
                  <a:rPr lang="en-US" sz="2400" b="1" dirty="0"/>
                  <a:t>= </a:t>
                </a:r>
                <a:r>
                  <a:rPr lang="en-US" sz="2400" b="1" u="sng" dirty="0"/>
                  <a:t>e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sz="2400" b="1" i="1" dirty="0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400" b="1" i="1" dirty="0" smtClean="0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</m:acc>
                  </m:oMath>
                </a14:m>
                <a:endParaRPr lang="en-US" sz="1200" b="1" dirty="0"/>
              </a:p>
            </p:txBody>
          </p:sp>
        </mc:Choice>
        <mc:Fallback xmlns=""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35205" y="1454210"/>
                <a:ext cx="1391579" cy="523220"/>
              </a:xfrm>
              <a:prstGeom prst="rect">
                <a:avLst/>
              </a:prstGeom>
              <a:blipFill rotWithShape="1">
                <a:blip r:embed="rId2"/>
                <a:stretch>
                  <a:fillRect l="-2" t="-11" r="23" b="8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7" name="Picture 16" descr="Diagram&#10;&#10;Description automatically generated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39487" y="941031"/>
            <a:ext cx="3850072" cy="3071674"/>
          </a:xfrm>
          <a:prstGeom prst="rect">
            <a:avLst/>
          </a:prstGeom>
        </p:spPr>
      </p:pic>
      <p:cxnSp>
        <p:nvCxnSpPr>
          <p:cNvPr id="19" name="Straight Arrow Connector 18"/>
          <p:cNvCxnSpPr/>
          <p:nvPr/>
        </p:nvCxnSpPr>
        <p:spPr>
          <a:xfrm flipH="1">
            <a:off x="11267365" y="1890944"/>
            <a:ext cx="406771" cy="592149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11363420" y="1615731"/>
            <a:ext cx="70133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Crystal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7568" y="2669238"/>
            <a:ext cx="6525086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Mechanical Pressure is applied on crystal by metal plates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Electric charge got separated due to the crystal out of balance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Charge separation gives voltage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4824" y="6566166"/>
            <a:ext cx="1183747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chemeClr val="accent1"/>
                </a:solidFill>
              </a:rPr>
              <a:t> Source:</a:t>
            </a:r>
            <a:r>
              <a:rPr lang="en-GB" sz="1200" dirty="0">
                <a:solidFill>
                  <a:schemeClr val="accent1"/>
                </a:solidFill>
              </a:rPr>
              <a:t>https://www.electronicdesigncom/power-management/article/21801833/what-is-the-piezoelectric-effect</a:t>
            </a:r>
            <a:r>
              <a:rPr lang="en-US" sz="1200" dirty="0">
                <a:solidFill>
                  <a:schemeClr val="accent1"/>
                </a:solidFill>
              </a:rPr>
              <a:t>,</a:t>
            </a:r>
            <a:r>
              <a:rPr lang="en-GB" sz="1200" dirty="0">
                <a:solidFill>
                  <a:schemeClr val="accent1"/>
                </a:solidFill>
              </a:rPr>
              <a:t> https://www.autodesk.com/products/fusion-360/blog/piezoelectricity/</a:t>
            </a:r>
            <a:endParaRPr lang="en-US" sz="1200" dirty="0">
              <a:solidFill>
                <a:schemeClr val="accent1"/>
              </a:solidFill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12111" y="36742"/>
            <a:ext cx="2341067" cy="43285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Logo&#10;&#10;Description automatically generated with medium confidence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14886" y="15905"/>
            <a:ext cx="2345310" cy="54863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28474" y="6539447"/>
            <a:ext cx="1183747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chemeClr val="accent1"/>
                </a:solidFill>
              </a:rPr>
              <a:t> Source:</a:t>
            </a:r>
            <a:r>
              <a:rPr lang="en-GB" sz="1200" dirty="0">
                <a:solidFill>
                  <a:schemeClr val="accent1"/>
                </a:solidFill>
              </a:rPr>
              <a:t>https://www.electronicdesigncom/power-management/article/21801833/what-is-the-piezoelectric-effect</a:t>
            </a:r>
            <a:r>
              <a:rPr lang="en-US" sz="1200" dirty="0">
                <a:solidFill>
                  <a:schemeClr val="accent1"/>
                </a:solidFill>
              </a:rPr>
              <a:t>,</a:t>
            </a:r>
            <a:r>
              <a:rPr lang="en-GB" sz="1200" dirty="0">
                <a:solidFill>
                  <a:schemeClr val="accent1"/>
                </a:solidFill>
              </a:rPr>
              <a:t> https://www.autodesk.com/products/fusion-360/blog/piezoelectricity/</a:t>
            </a:r>
            <a:endParaRPr lang="en-US" sz="1200" dirty="0">
              <a:solidFill>
                <a:schemeClr val="accent1"/>
              </a:solidFill>
            </a:endParaRPr>
          </a:p>
        </p:txBody>
      </p:sp>
      <p:pic>
        <p:nvPicPr>
          <p:cNvPr id="7" name="Picture 6" descr="A picture containing chart&#10;&#10;Description automatically generated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737" y="1618838"/>
            <a:ext cx="3620751" cy="2529756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3587807" y="2570008"/>
            <a:ext cx="8163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Crystal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71745" y="1375583"/>
            <a:ext cx="6713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wave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39850" y="3621317"/>
            <a:ext cx="18431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M</a:t>
            </a:r>
            <a:r>
              <a:rPr lang="en-US" dirty="0" err="1"/>
              <a:t>etal</a:t>
            </a:r>
            <a:r>
              <a:rPr lang="en-US" dirty="0"/>
              <a:t> plate(Gold)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/>
              <p:cNvSpPr txBox="1"/>
              <p:nvPr/>
            </p:nvSpPr>
            <p:spPr>
              <a:xfrm>
                <a:off x="6818330" y="872469"/>
                <a:ext cx="890565" cy="48314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sz="2800" b="1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800" b="1" i="1" smtClean="0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</m:acc>
                  </m:oMath>
                </a14:m>
                <a:r>
                  <a:rPr lang="en-US" sz="2800" b="1" dirty="0"/>
                  <a:t>= </a:t>
                </a:r>
                <a:r>
                  <a:rPr lang="en-US" sz="2800" b="1" u="sng" dirty="0"/>
                  <a:t>d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sz="2800" b="1" i="1" dirty="0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800" b="1" i="1" dirty="0" smtClean="0">
                            <a:latin typeface="Cambria Math" panose="02040503050406030204" pitchFamily="18" charset="0"/>
                          </a:rPr>
                          <m:t>𝑬</m:t>
                        </m:r>
                      </m:e>
                    </m:acc>
                  </m:oMath>
                </a14:m>
                <a:endParaRPr lang="en-US" sz="2800" b="1" dirty="0"/>
              </a:p>
            </p:txBody>
          </p:sp>
        </mc:Choice>
        <mc:Fallback xmlns="">
          <p:sp>
            <p:nvSpPr>
              <p:cNvPr id="2" name="TextBox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18330" y="872469"/>
                <a:ext cx="890565" cy="483146"/>
              </a:xfrm>
              <a:prstGeom prst="rect">
                <a:avLst/>
              </a:prstGeom>
              <a:blipFill rotWithShape="1">
                <a:blip r:embed="rId4"/>
                <a:stretch>
                  <a:fillRect l="-38" t="-127" r="-9413" b="-5937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" name="Straight Arrow Connector 5"/>
          <p:cNvCxnSpPr/>
          <p:nvPr/>
        </p:nvCxnSpPr>
        <p:spPr>
          <a:xfrm flipH="1">
            <a:off x="3587807" y="2756231"/>
            <a:ext cx="158570" cy="25497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3444543" y="8876"/>
            <a:ext cx="537098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/>
              <a:t>Reverse Piezoelectric Effect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8431" y="1775530"/>
            <a:ext cx="7270812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Electrical energy is applied to the crystal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Crystal got expanded or contracted due to E-field which gives a shear deformation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Electrical energy converts to mechanical energy as a form of vibration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8288" y="5817140"/>
            <a:ext cx="1138136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b="0" i="0" dirty="0">
                <a:solidFill>
                  <a:srgbClr val="202124"/>
                </a:solidFill>
                <a:effectLst/>
              </a:rPr>
              <a:t> </a:t>
            </a:r>
            <a:r>
              <a:rPr lang="en-US" sz="2400" dirty="0">
                <a:solidFill>
                  <a:srgbClr val="202124"/>
                </a:solidFill>
              </a:rPr>
              <a:t>Example: L</a:t>
            </a:r>
            <a:r>
              <a:rPr lang="en-GB" sz="2400" b="1" dirty="0" err="1">
                <a:solidFill>
                  <a:srgbClr val="202124"/>
                </a:solidFill>
              </a:rPr>
              <a:t>ead</a:t>
            </a:r>
            <a:r>
              <a:rPr lang="en-GB" sz="2400" b="1" dirty="0">
                <a:solidFill>
                  <a:srgbClr val="202124"/>
                </a:solidFill>
              </a:rPr>
              <a:t> zirconate titanate (PZT), </a:t>
            </a:r>
            <a:r>
              <a:rPr lang="en-US" sz="2400" b="1" dirty="0">
                <a:solidFill>
                  <a:srgbClr val="202124"/>
                </a:solidFill>
              </a:rPr>
              <a:t>B</a:t>
            </a:r>
            <a:r>
              <a:rPr lang="en-GB" sz="2400" b="1" dirty="0" err="1">
                <a:solidFill>
                  <a:srgbClr val="202124"/>
                </a:solidFill>
              </a:rPr>
              <a:t>arium</a:t>
            </a:r>
            <a:r>
              <a:rPr lang="en-GB" sz="2400" b="1" dirty="0">
                <a:solidFill>
                  <a:srgbClr val="202124"/>
                </a:solidFill>
              </a:rPr>
              <a:t> </a:t>
            </a:r>
            <a:r>
              <a:rPr lang="en-GB" sz="2400" b="1" dirty="0" err="1">
                <a:solidFill>
                  <a:srgbClr val="202124"/>
                </a:solidFill>
              </a:rPr>
              <a:t>titanateate</a:t>
            </a:r>
            <a:r>
              <a:rPr lang="en-US" sz="2400" b="1" dirty="0">
                <a:solidFill>
                  <a:srgbClr val="202124"/>
                </a:solidFill>
              </a:rPr>
              <a:t>,</a:t>
            </a:r>
            <a:r>
              <a:rPr lang="en-GB" sz="2400" b="1" dirty="0">
                <a:solidFill>
                  <a:srgbClr val="202124"/>
                </a:solidFill>
              </a:rPr>
              <a:t>Gallium nitride and </a:t>
            </a:r>
            <a:r>
              <a:rPr lang="en-US" sz="2400" b="1" dirty="0">
                <a:solidFill>
                  <a:srgbClr val="202124"/>
                </a:solidFill>
              </a:rPr>
              <a:t>Z</a:t>
            </a:r>
            <a:r>
              <a:rPr lang="en-GB" sz="2400" b="1" dirty="0" err="1">
                <a:solidFill>
                  <a:srgbClr val="202124"/>
                </a:solidFill>
              </a:rPr>
              <a:t>incoxide</a:t>
            </a:r>
            <a:r>
              <a:rPr lang="en-GB" sz="2400" b="1" dirty="0">
                <a:solidFill>
                  <a:srgbClr val="202124"/>
                </a:solidFill>
              </a:rPr>
              <a:t> </a:t>
            </a:r>
            <a:endParaRPr lang="en-US" sz="2000" b="1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Logo&#10;&#10;Description automatically generated with medium confidence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14886" y="15905"/>
            <a:ext cx="2345310" cy="548638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4658310" y="6252"/>
            <a:ext cx="192450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/>
              <a:t>Resonator</a:t>
            </a:r>
          </a:p>
        </p:txBody>
      </p:sp>
      <p:pic>
        <p:nvPicPr>
          <p:cNvPr id="7" name="Picture 6" descr="A picture containing text, linedrawing&#10;&#10;Description automatically generated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47353" y="1049582"/>
            <a:ext cx="2417686" cy="3034145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293058" y="1258518"/>
            <a:ext cx="37061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58176" y="6475530"/>
            <a:ext cx="518917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chemeClr val="accent1"/>
                </a:solidFill>
              </a:rPr>
              <a:t>Source: </a:t>
            </a:r>
            <a:r>
              <a:rPr lang="en-GB" sz="1400" dirty="0">
                <a:solidFill>
                  <a:schemeClr val="accent1"/>
                </a:solidFill>
              </a:rPr>
              <a:t>https://wiki.physik.fu-berlin.de/fp/_media/private:ma17.pdf</a:t>
            </a:r>
            <a:endParaRPr lang="en-US" sz="1400" dirty="0"/>
          </a:p>
        </p:txBody>
      </p:sp>
      <p:sp>
        <p:nvSpPr>
          <p:cNvPr id="4" name="TextBox 3"/>
          <p:cNvSpPr txBox="1"/>
          <p:nvPr/>
        </p:nvSpPr>
        <p:spPr>
          <a:xfrm>
            <a:off x="645532" y="1777109"/>
            <a:ext cx="7540763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AT- cut quartz crystal used in the QCM experiment with</a:t>
            </a:r>
          </a:p>
          <a:p>
            <a:r>
              <a:rPr lang="en-US" sz="2400" dirty="0"/>
              <a:t>     an angle of 35.10°(A)</a:t>
            </a:r>
          </a:p>
          <a:p>
            <a:endParaRPr lang="en-U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Temperature coefficient is nearly 0 for AT-cut crystal, so remain stable between 0-50°C temperature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Logo&#10;&#10;Description automatically generated with medium confidence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14886" y="15905"/>
            <a:ext cx="2345310" cy="548638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4480758" y="6252"/>
            <a:ext cx="192450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/>
              <a:t>Resonator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/>
              <p:cNvSpPr txBox="1"/>
              <p:nvPr/>
            </p:nvSpPr>
            <p:spPr>
              <a:xfrm>
                <a:off x="4900472" y="4180994"/>
                <a:ext cx="1358296" cy="71429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2400" b="1" i="1" dirty="0">
                    <a:solidFill>
                      <a:srgbClr val="000000"/>
                    </a:solidFill>
                  </a:rPr>
                  <a:t>f</a:t>
                </a:r>
                <a:r>
                  <a:rPr lang="en-US" sz="2400" b="1" dirty="0"/>
                  <a:t>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400" b="1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sz="2400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1" i="1" smtClean="0">
                                <a:latin typeface="Cambria Math" panose="02040503050406030204" pitchFamily="18" charset="0"/>
                              </a:rPr>
                              <m:t>𝒏</m:t>
                            </m:r>
                            <m:r>
                              <a:rPr lang="en-US" sz="2400" b="1" i="1">
                                <a:latin typeface="Cambria Math" panose="02040503050406030204" pitchFamily="18" charset="0"/>
                              </a:rPr>
                              <m:t>𝒌</m:t>
                            </m:r>
                          </m:e>
                          <m:sub>
                            <m:r>
                              <a:rPr lang="en-US" sz="2400" b="1" i="1" smtClean="0">
                                <a:latin typeface="Cambria Math" panose="02040503050406030204" pitchFamily="18" charset="0"/>
                              </a:rPr>
                              <m:t>𝑹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sz="2400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1" i="1">
                                <a:latin typeface="Cambria Math" panose="02040503050406030204" pitchFamily="18" charset="0"/>
                              </a:rPr>
                              <m:t>𝒅</m:t>
                            </m:r>
                          </m:e>
                          <m:sub>
                            <m:r>
                              <a:rPr lang="en-US" sz="2400" b="1" i="1">
                                <a:latin typeface="Cambria Math" panose="02040503050406030204" pitchFamily="18" charset="0"/>
                              </a:rPr>
                              <m:t>𝒒</m:t>
                            </m:r>
                          </m:sub>
                        </m:sSub>
                      </m:den>
                    </m:f>
                  </m:oMath>
                </a14:m>
                <a:r>
                  <a:rPr lang="en-US" sz="1600" b="1" dirty="0"/>
                  <a:t>        </a:t>
                </a:r>
              </a:p>
            </p:txBody>
          </p:sp>
        </mc:Choice>
        <mc:Fallback xmlns="">
          <p:sp>
            <p:nvSpPr>
              <p:cNvPr id="12" name="TextBox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00472" y="4180994"/>
                <a:ext cx="1358296" cy="714298"/>
              </a:xfrm>
              <a:prstGeom prst="rect">
                <a:avLst/>
              </a:prstGeom>
              <a:blipFill rotWithShape="1">
                <a:blip r:embed="rId3"/>
                <a:stretch>
                  <a:fillRect l="-13" t="-22" r="15" b="11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TextBox 13"/>
          <p:cNvSpPr txBox="1"/>
          <p:nvPr/>
        </p:nvSpPr>
        <p:spPr>
          <a:xfrm>
            <a:off x="3558176" y="6475530"/>
            <a:ext cx="518917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chemeClr val="accent1"/>
                </a:solidFill>
              </a:rPr>
              <a:t>Source: </a:t>
            </a:r>
            <a:r>
              <a:rPr lang="en-GB" sz="1400" dirty="0">
                <a:solidFill>
                  <a:schemeClr val="accent1"/>
                </a:solidFill>
              </a:rPr>
              <a:t>https://wiki.physik.fu-berlin.de/fp/_media/private:ma17.pdf</a:t>
            </a:r>
            <a:endParaRPr lang="en-US" sz="1400" dirty="0"/>
          </a:p>
        </p:txBody>
      </p:sp>
      <p:pic>
        <p:nvPicPr>
          <p:cNvPr id="8" name="Picture 7" descr="Diagram&#10;&#10;Description automatically generated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58075" y="958785"/>
            <a:ext cx="3423176" cy="1899825"/>
          </a:xfrm>
          <a:prstGeom prst="rect">
            <a:avLst/>
          </a:prstGeom>
        </p:spPr>
      </p:pic>
      <p:pic>
        <p:nvPicPr>
          <p:cNvPr id="10" name="Picture 9" descr="A picture containing text, clock, device&#10;&#10;Description automatically generated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58075" y="3252852"/>
            <a:ext cx="3269941" cy="2905171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/>
              <p:cNvSpPr txBox="1"/>
              <p:nvPr/>
            </p:nvSpPr>
            <p:spPr>
              <a:xfrm>
                <a:off x="363984" y="949900"/>
                <a:ext cx="7652555" cy="38141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2400" dirty="0"/>
                  <a:t>The electrodes are placed on the crystal surface by  vapour deposition and applied E-field causes deformation(A,B)</a:t>
                </a:r>
              </a:p>
              <a:p>
                <a:endParaRPr lang="en-US" sz="2400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2400" dirty="0"/>
                  <a:t>A transverse standing wave results from the oscillating quartz disk which is called thickness shear vibration(TSM)</a:t>
                </a:r>
              </a:p>
              <a:p>
                <a:endParaRPr lang="en-US" sz="2400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2400" dirty="0"/>
                  <a:t>The plate size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</m:sub>
                    </m:sSub>
                  </m:oMath>
                </a14:m>
                <a:r>
                  <a:rPr lang="en-US" sz="2400" dirty="0"/>
                  <a:t> is half of the wavelength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sz="2400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2400" dirty="0"/>
                  <a:t>Natural frequency is obtained by: </a:t>
                </a:r>
              </a:p>
            </p:txBody>
          </p:sp>
        </mc:Choice>
        <mc:Fallback xmlns="">
          <p:sp>
            <p:nvSpPr>
              <p:cNvPr id="17" name="TextBox 1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3984" y="949900"/>
                <a:ext cx="7652555" cy="3814186"/>
              </a:xfrm>
              <a:prstGeom prst="rect">
                <a:avLst/>
              </a:prstGeom>
              <a:blipFill>
                <a:blip r:embed="rId6"/>
                <a:stretch>
                  <a:fillRect l="-1116" t="-1278" b="-2556"/>
                </a:stretch>
              </a:blipFill>
            </p:spPr>
            <p:txBody>
              <a:bodyPr/>
              <a:lstStyle/>
              <a:p>
                <a:r>
                  <a:rPr lang="en-DE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Logo&#10;&#10;Description automatically generated with medium confidence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14886" y="15905"/>
            <a:ext cx="2345310" cy="548638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3275861" y="17523"/>
            <a:ext cx="558406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en-US" sz="3200" b="1" dirty="0">
                <a:solidFill>
                  <a:srgbClr val="000000"/>
                </a:solidFill>
                <a:latin typeface="Calibri" panose="020F0502020204030204" pitchFamily="34" charset="0"/>
              </a:rPr>
              <a:t>Mass deposition</a:t>
            </a:r>
            <a:r>
              <a:rPr lang="en-US" sz="3200" b="1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and sensitivity</a:t>
            </a:r>
            <a:endParaRPr lang="en-US" sz="32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/>
              <p:cNvSpPr txBox="1"/>
              <p:nvPr/>
            </p:nvSpPr>
            <p:spPr>
              <a:xfrm>
                <a:off x="5185959" y="1129085"/>
                <a:ext cx="3753865" cy="86254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2800" dirty="0">
                    <a:solidFill>
                      <a:srgbClr val="000000"/>
                    </a:solidFill>
                    <a:effectLst/>
                  </a:rPr>
                  <a:t>∆</a:t>
                </a:r>
                <a:r>
                  <a:rPr lang="en-GB" sz="2800" i="1" dirty="0">
                    <a:solidFill>
                      <a:srgbClr val="000000"/>
                    </a:solidFill>
                    <a:effectLst/>
                  </a:rPr>
                  <a:t>f</a:t>
                </a:r>
                <a:r>
                  <a:rPr lang="en-US" sz="2800" i="1" dirty="0">
                    <a:solidFill>
                      <a:srgbClr val="000000"/>
                    </a:solidFill>
                    <a:effectLst/>
                  </a:rPr>
                  <a:t> = - 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800" i="1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sz="2800" i="1" smtClean="0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00" b="0" i="1" smtClean="0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b>
                            <m:r>
                              <a:rPr lang="en-US" sz="2800" b="0" i="1" smtClean="0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</a:rPr>
                              <m:t>𝑜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sz="2800" i="1" smtClean="0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nor/>
                              </m:rPr>
                              <a:rPr lang="el-GR" i="1">
                                <a:latin typeface="Cambria Math" panose="02040503050406030204" pitchFamily="18" charset="0"/>
                              </a:rPr>
                              <m:t>ρ</m:t>
                            </m:r>
                          </m:e>
                          <m:sub>
                            <m:r>
                              <a:rPr lang="en-US" sz="2800" b="0" i="1" smtClean="0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</a:rPr>
                              <m:t>𝑞</m:t>
                            </m:r>
                          </m:sub>
                        </m:sSub>
                        <m:sSub>
                          <m:sSubPr>
                            <m:ctrlPr>
                              <a:rPr lang="en-US" sz="2800" i="1" smtClean="0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00" b="0" i="1" smtClean="0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  <m:sub>
                            <m:r>
                              <a:rPr lang="en-US" sz="2800" b="0" i="1" smtClean="0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</a:rPr>
                              <m:t>𝑞</m:t>
                            </m:r>
                          </m:sub>
                        </m:sSub>
                      </m:den>
                    </m:f>
                    <m:f>
                      <m:fPr>
                        <m:ctrlPr>
                          <a:rPr lang="en-US" sz="2800" i="1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GB" sz="2800">
                            <a:latin typeface="Cambria Math" panose="02040503050406030204" pitchFamily="18" charset="0"/>
                          </a:rPr>
                          <m:t>∆</m:t>
                        </m:r>
                        <m:r>
                          <m:rPr>
                            <m:nor/>
                          </m:rPr>
                          <a:rPr lang="en-GB" sz="2800" i="1">
                            <a:latin typeface="Cambria Math" panose="02040503050406030204" pitchFamily="18" charset="0"/>
                          </a:rPr>
                          <m:t>m</m:t>
                        </m:r>
                      </m:num>
                      <m:den>
                        <m:r>
                          <a:rPr lang="en-US" sz="2800" b="0" i="1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𝐴</m:t>
                        </m:r>
                      </m:den>
                    </m:f>
                  </m:oMath>
                </a14:m>
                <a:r>
                  <a:rPr lang="en-US" sz="2400" dirty="0"/>
                  <a:t> </a:t>
                </a:r>
                <a:r>
                  <a:rPr lang="en-US" sz="2800" dirty="0"/>
                  <a:t>= -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  <m:f>
                      <m:fPr>
                        <m:ctrlPr>
                          <a:rPr lang="en-US" sz="24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GB" sz="2400">
                            <a:latin typeface="Cambria Math" panose="02040503050406030204" pitchFamily="18" charset="0"/>
                          </a:rPr>
                          <m:t>∆</m:t>
                        </m:r>
                        <m:r>
                          <m:rPr>
                            <m:nor/>
                          </m:rPr>
                          <a:rPr lang="en-GB" sz="2400" i="1">
                            <a:latin typeface="Cambria Math" panose="02040503050406030204" pitchFamily="18" charset="0"/>
                          </a:rPr>
                          <m:t>m</m:t>
                        </m:r>
                      </m:num>
                      <m:den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den>
                    </m:f>
                  </m:oMath>
                </a14:m>
                <a:r>
                  <a:rPr lang="en-US" sz="2800" dirty="0"/>
                  <a:t>  </a:t>
                </a:r>
              </a:p>
            </p:txBody>
          </p:sp>
        </mc:Choice>
        <mc:Fallback xmlns=""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85959" y="1129085"/>
                <a:ext cx="3753865" cy="862544"/>
              </a:xfrm>
              <a:prstGeom prst="rect">
                <a:avLst/>
              </a:prstGeom>
              <a:blipFill rotWithShape="1">
                <a:blip r:embed="rId3"/>
                <a:stretch>
                  <a:fillRect l="-15" t="-6" r="8" b="31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extBox 7"/>
          <p:cNvSpPr txBox="1"/>
          <p:nvPr/>
        </p:nvSpPr>
        <p:spPr>
          <a:xfrm>
            <a:off x="1020933" y="6532657"/>
            <a:ext cx="1062657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accent1"/>
                </a:solidFill>
              </a:rPr>
              <a:t>Source: </a:t>
            </a:r>
            <a:r>
              <a:rPr lang="en-GB" sz="1400" dirty="0">
                <a:solidFill>
                  <a:schemeClr val="accent1"/>
                </a:solidFill>
              </a:rPr>
              <a:t>https://wiki.physik.fu-b</a:t>
            </a:r>
            <a:r>
              <a:rPr lang="en-US" sz="1400" dirty="0">
                <a:solidFill>
                  <a:schemeClr val="accent1"/>
                </a:solidFill>
              </a:rPr>
              <a:t>e</a:t>
            </a:r>
            <a:r>
              <a:rPr lang="en-GB" sz="1400" dirty="0">
                <a:solidFill>
                  <a:schemeClr val="accent1"/>
                </a:solidFill>
              </a:rPr>
              <a:t>rlin.de/fp/_media/private:ma17.pdf</a:t>
            </a:r>
            <a:r>
              <a:rPr lang="en-US" sz="1400" dirty="0">
                <a:solidFill>
                  <a:schemeClr val="accent1"/>
                </a:solidFill>
              </a:rPr>
              <a:t>,</a:t>
            </a:r>
            <a:r>
              <a:rPr lang="en-GB" sz="1400" dirty="0">
                <a:solidFill>
                  <a:schemeClr val="accent1"/>
                </a:solidFill>
              </a:rPr>
              <a:t> https://www.nanoscience.com/techniques/quartz-crystal-microbalance/</a:t>
            </a:r>
            <a:endParaRPr lang="en-US" sz="1400" dirty="0">
              <a:solidFill>
                <a:schemeClr val="accent1"/>
              </a:solidFill>
            </a:endParaRPr>
          </a:p>
        </p:txBody>
      </p:sp>
      <p:pic>
        <p:nvPicPr>
          <p:cNvPr id="7" name="Picture 6" descr="Diagram&#10;&#10;Description automatically generated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7252" y="1560036"/>
            <a:ext cx="3370204" cy="2983554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3923579" y="2312595"/>
            <a:ext cx="7851169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The effect of rigid mass deposition on the crystal and changes of oscillation is described by </a:t>
            </a:r>
            <a:r>
              <a:rPr lang="en-US" sz="2400" dirty="0" err="1"/>
              <a:t>Sauerbrey</a:t>
            </a:r>
            <a:r>
              <a:rPr lang="en-US" sz="2400" dirty="0"/>
              <a:t> equation[1952]</a:t>
            </a:r>
          </a:p>
          <a:p>
            <a:endParaRPr lang="en-US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Resonance frequency of the quartz decreases with increasing mass on it and so 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Applicable to deposited mass less than 0.5% of the mass of the quartz crystal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Logo&#10;&#10;Description automatically generated with medium confidence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14886" y="15905"/>
            <a:ext cx="2345310" cy="548638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3275861" y="-71257"/>
            <a:ext cx="558406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en-US" sz="3200" b="1" dirty="0">
                <a:solidFill>
                  <a:srgbClr val="000000"/>
                </a:solidFill>
                <a:latin typeface="Calibri" panose="020F0502020204030204" pitchFamily="34" charset="0"/>
              </a:rPr>
              <a:t>Mass deposition </a:t>
            </a:r>
            <a:r>
              <a:rPr lang="en-US" sz="3200" b="1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and sensitivity</a:t>
            </a:r>
            <a:endParaRPr lang="en-US" sz="3200" b="1" dirty="0"/>
          </a:p>
        </p:txBody>
      </p:sp>
      <p:sp>
        <p:nvSpPr>
          <p:cNvPr id="8" name="TextBox 7"/>
          <p:cNvSpPr txBox="1"/>
          <p:nvPr/>
        </p:nvSpPr>
        <p:spPr>
          <a:xfrm>
            <a:off x="3787455" y="6488267"/>
            <a:ext cx="518917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chemeClr val="accent1"/>
                </a:solidFill>
              </a:rPr>
              <a:t>Source: </a:t>
            </a:r>
            <a:r>
              <a:rPr lang="en-GB" sz="1400" dirty="0">
                <a:solidFill>
                  <a:schemeClr val="accent1"/>
                </a:solidFill>
              </a:rPr>
              <a:t>https://wiki.physik.fu-berlin.de/fp/_media/private:ma17.pdf</a:t>
            </a:r>
            <a:endParaRPr lang="en-US" sz="1400" dirty="0">
              <a:solidFill>
                <a:schemeClr val="accent1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266326" y="603675"/>
            <a:ext cx="657333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2400" dirty="0"/>
              <a:t>Why </a:t>
            </a:r>
            <a:r>
              <a:rPr lang="en-US" sz="2800" dirty="0" err="1"/>
              <a:t>Sauerbrey</a:t>
            </a:r>
            <a:r>
              <a:rPr lang="en-US" sz="2400" dirty="0"/>
              <a:t> equation is not valid in liquids?</a:t>
            </a:r>
          </a:p>
        </p:txBody>
      </p:sp>
      <p:pic>
        <p:nvPicPr>
          <p:cNvPr id="7" name="Picture 6" descr="A picture containing weapon, knife, vector graphics&#10;&#10;Description automatically generated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6326" y="1535837"/>
            <a:ext cx="2885247" cy="3088552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3787455" y="2192787"/>
            <a:ext cx="7664739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The maximum displacement of the shear transverse wave of the oscillating quartz(grey area) in air or vacuum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Shear wave got damped in liquid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Damping depends on density and viscosity of the liquid; the more the density and viscosity, the more the damping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Logo&#10;&#10;Description automatically generated with medium confidence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14886" y="15905"/>
            <a:ext cx="2345310" cy="548638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3684234" y="17523"/>
            <a:ext cx="558406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en-US" sz="3200" b="1" dirty="0">
                <a:solidFill>
                  <a:srgbClr val="000000"/>
                </a:solidFill>
                <a:latin typeface="Calibri" panose="020F0502020204030204" pitchFamily="34" charset="0"/>
              </a:rPr>
              <a:t>Mass deposition</a:t>
            </a:r>
            <a:r>
              <a:rPr lang="en-US" sz="3200" b="1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and sensitivity</a:t>
            </a:r>
            <a:endParaRPr lang="en-US" sz="3200" b="1" dirty="0"/>
          </a:p>
        </p:txBody>
      </p:sp>
      <p:sp>
        <p:nvSpPr>
          <p:cNvPr id="8" name="TextBox 7"/>
          <p:cNvSpPr txBox="1"/>
          <p:nvPr/>
        </p:nvSpPr>
        <p:spPr>
          <a:xfrm>
            <a:off x="3787455" y="6488267"/>
            <a:ext cx="518917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chemeClr val="accent1"/>
                </a:solidFill>
              </a:rPr>
              <a:t>Source: </a:t>
            </a:r>
            <a:r>
              <a:rPr lang="en-GB" sz="1400" dirty="0">
                <a:solidFill>
                  <a:schemeClr val="accent1"/>
                </a:solidFill>
              </a:rPr>
              <a:t>https://wiki.physik.fu-berlin.de/fp/_media/private:ma17.pdf</a:t>
            </a:r>
            <a:endParaRPr lang="en-US" sz="1400" dirty="0">
              <a:solidFill>
                <a:schemeClr val="accent1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29496" y="690458"/>
            <a:ext cx="667747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sz="2400" dirty="0"/>
              <a:t>What’s the </a:t>
            </a:r>
            <a:r>
              <a:rPr lang="en-US" sz="2400" dirty="0" err="1"/>
              <a:t>Solutio</a:t>
            </a:r>
            <a:r>
              <a:rPr lang="en-GB" sz="2400" dirty="0"/>
              <a:t>n</a:t>
            </a:r>
            <a:r>
              <a:rPr lang="en-US" sz="2400" dirty="0"/>
              <a:t> of damping in liquids?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/>
              <p:cNvSpPr txBox="1"/>
              <p:nvPr/>
            </p:nvSpPr>
            <p:spPr>
              <a:xfrm>
                <a:off x="3427260" y="1982112"/>
                <a:ext cx="8433308" cy="353224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2400" dirty="0"/>
                  <a:t>The damped shear standing wave is </a:t>
                </a:r>
                <a:r>
                  <a:rPr lang="en-US" sz="2400" dirty="0" err="1"/>
                  <a:t>expla</a:t>
                </a:r>
                <a:r>
                  <a:rPr lang="en-GB" sz="2400" dirty="0"/>
                  <a:t>in</a:t>
                </a:r>
                <a:r>
                  <a:rPr lang="en-US" sz="2400" dirty="0"/>
                  <a:t>ed by using Navier-Strokes equation:  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40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sz="240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4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  <m:sup>
                            <m:r>
                              <a:rPr lang="en-US" sz="24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sSub>
                          <m:sSubPr>
                            <m:ctrlPr>
                              <a:rPr lang="en-US" sz="240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en-US" sz="24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</m:sub>
                        </m:sSub>
                      </m:num>
                      <m:den>
                        <m:r>
                          <a:rPr lang="en-US" sz="24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sSup>
                          <m:sSupPr>
                            <m:ctrlPr>
                              <a:rPr lang="en-US" sz="24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4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𝑍</m:t>
                            </m:r>
                          </m:e>
                          <m:sup>
                            <m:r>
                              <a:rPr lang="en-US" sz="24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lang="en-US" sz="2400" dirty="0">
                    <a:solidFill>
                      <a:srgbClr val="000000"/>
                    </a:solidFill>
                    <a:latin typeface="Calibri" panose="020F0502020204030204" pitchFamily="34" charset="0"/>
                  </a:rPr>
                  <a:t>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40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sz="240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nor/>
                              </m:rPr>
                              <a:rPr lang="el-GR" sz="2400" i="1">
                                <a:latin typeface="Cambria Math" panose="02040503050406030204" pitchFamily="18" charset="0"/>
                              </a:rPr>
                              <m:t>ρ</m:t>
                            </m:r>
                          </m:e>
                          <m:sub>
                            <m:r>
                              <a:rPr lang="en-US" sz="24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𝐿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sz="240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nor/>
                              </m:rPr>
                              <a:rPr lang="el-GR" sz="2400" i="1">
                                <a:latin typeface="Cambria Math" panose="02040503050406030204" pitchFamily="18" charset="0"/>
                              </a:rPr>
                              <m:t>η</m:t>
                            </m:r>
                          </m:e>
                          <m:sub>
                            <m:r>
                              <a:rPr lang="en-US" sz="24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𝐿</m:t>
                            </m:r>
                          </m:sub>
                        </m:sSub>
                      </m:den>
                    </m:f>
                    <m:f>
                      <m:fPr>
                        <m:ctrlPr>
                          <a:rPr lang="en-US" sz="240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sz="240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𝑑𝑣</m:t>
                            </m:r>
                          </m:e>
                          <m:sub>
                            <m:r>
                              <a:rPr lang="en-US" sz="24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</m:sub>
                        </m:sSub>
                      </m:num>
                      <m:den>
                        <m:r>
                          <a:rPr lang="en-US" sz="24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𝑑𝑧</m:t>
                        </m:r>
                      </m:den>
                    </m:f>
                  </m:oMath>
                </a14:m>
                <a:endParaRPr lang="en-US" sz="2400" dirty="0"/>
              </a:p>
              <a:p>
                <a:endParaRPr lang="en-US" sz="2400" dirty="0"/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sz="2400" dirty="0"/>
                  <a:t>The standing wave spreading out as a damped wave in liquid perpendicular to the surface with a ran out length: </a:t>
                </a:r>
                <a:r>
                  <a:rPr lang="en-US" sz="2400" dirty="0">
                    <a:solidFill>
                      <a:srgbClr val="000000"/>
                    </a:solidFill>
                    <a:latin typeface="Calibri" panose="020F0502020204030204" pitchFamily="34" charset="0"/>
                  </a:rPr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40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b>
                          <m:sSubPr>
                            <m:ctrlPr>
                              <a:rPr lang="en-US" sz="240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  <m:sub>
                            <m:r>
                              <a:rPr lang="en-US" sz="24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𝐿</m:t>
                            </m:r>
                          </m:sub>
                        </m:sSub>
                      </m:den>
                    </m:f>
                  </m:oMath>
                </a14:m>
                <a:r>
                  <a:rPr lang="en-US" sz="2400" dirty="0">
                    <a:solidFill>
                      <a:srgbClr val="000000"/>
                    </a:solidFill>
                    <a:latin typeface="Calibri" panose="020F0502020204030204" pitchFamily="34" charset="0"/>
                  </a:rPr>
                  <a:t> =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US" sz="240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f>
                          <m:fPr>
                            <m:ctrlPr>
                              <a:rPr lang="en-US" sz="240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en-US" sz="2400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nor/>
                                  </m:rPr>
                                  <a:rPr lang="el-GR" sz="2400" i="1">
                                    <a:latin typeface="Cambria Math" panose="02040503050406030204" pitchFamily="18" charset="0"/>
                                  </a:rPr>
                                  <m:t>η</m:t>
                                </m:r>
                              </m:e>
                              <m:sub>
                                <m:r>
                                  <a:rPr lang="en-US" sz="2400" b="0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𝐿</m:t>
                                </m:r>
                              </m:sub>
                            </m:sSub>
                          </m:num>
                          <m:den>
                            <m:sSub>
                              <m:sSubPr>
                                <m:ctrlPr>
                                  <a:rPr lang="en-US" sz="2400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l-GR" sz="2400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π</m:t>
                                </m:r>
                                <m:r>
                                  <a:rPr lang="en-US" sz="2400" b="0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𝑓</m:t>
                                </m:r>
                              </m:e>
                              <m:sub>
                                <m:r>
                                  <a:rPr lang="en-US" sz="2400" b="0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𝑜</m:t>
                                </m:r>
                              </m:sub>
                            </m:sSub>
                            <m:sSub>
                              <m:sSubPr>
                                <m:ctrlPr>
                                  <a:rPr lang="en-US" sz="2400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nor/>
                                  </m:rPr>
                                  <a:rPr lang="el-GR" sz="2400" i="1">
                                    <a:latin typeface="Cambria Math" panose="02040503050406030204" pitchFamily="18" charset="0"/>
                                  </a:rPr>
                                  <m:t>ρ</m:t>
                                </m:r>
                              </m:e>
                              <m:sub>
                                <m:r>
                                  <a:rPr lang="en-US" sz="2400" b="0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𝐿</m:t>
                                </m:r>
                              </m:sub>
                            </m:sSub>
                          </m:den>
                        </m:f>
                      </m:e>
                    </m:rad>
                  </m:oMath>
                </a14:m>
                <a:endParaRPr lang="en-US" sz="2400" dirty="0"/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endParaRPr lang="en-US" sz="2400" dirty="0"/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sz="2400" dirty="0"/>
                  <a:t>Frequency changes in liquids: </a:t>
                </a:r>
                <a:r>
                  <a:rPr lang="en-US" sz="2400" b="1" dirty="0"/>
                  <a:t> </a:t>
                </a:r>
                <a:r>
                  <a:rPr lang="en-GB" sz="2000" b="1" dirty="0"/>
                  <a:t>∆</a:t>
                </a:r>
                <a:r>
                  <a:rPr lang="en-GB" sz="2000" b="1" i="1" dirty="0"/>
                  <a:t>f </a:t>
                </a:r>
                <a:r>
                  <a:rPr lang="en-US" sz="2000" b="1" i="1" dirty="0"/>
                  <a:t>   </a:t>
                </a:r>
                <a:r>
                  <a:rPr lang="en-US" sz="2000" b="1" dirty="0"/>
                  <a:t>=    -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000" b="1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sSub>
                          <m:sSubPr>
                            <m:ctrlPr>
                              <a:rPr lang="en-US" sz="2000" b="1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1" i="1" smtClean="0">
                                <a:latin typeface="Cambria Math" panose="02040503050406030204" pitchFamily="18" charset="0"/>
                              </a:rPr>
                              <m:t>𝒇</m:t>
                            </m:r>
                          </m:e>
                          <m:sub>
                            <m:r>
                              <a:rPr lang="en-US" sz="2000" b="1" i="1" smtClean="0">
                                <a:latin typeface="Cambria Math" panose="02040503050406030204" pitchFamily="18" charset="0"/>
                              </a:rPr>
                              <m:t>𝟎</m:t>
                            </m:r>
                          </m:sub>
                        </m:sSub>
                      </m:e>
                      <m:sup>
                        <m:r>
                          <a:rPr lang="en-US" sz="2000" b="1" i="1" smtClean="0">
                            <a:latin typeface="Cambria Math" panose="02040503050406030204" pitchFamily="18" charset="0"/>
                          </a:rPr>
                          <m:t>𝟑</m:t>
                        </m:r>
                        <m:r>
                          <a:rPr lang="en-US" sz="2000" b="1" i="1" smtClean="0"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US" sz="2000" b="1" i="1" smtClean="0"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p>
                    <m:rad>
                      <m:radPr>
                        <m:degHide m:val="on"/>
                        <m:ctrlPr>
                          <a:rPr lang="en-US" sz="2000" b="1" i="1" smtClean="0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f>
                          <m:fPr>
                            <m:ctrlPr>
                              <a:rPr lang="en-US" sz="2000" b="1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en-US" sz="2000" b="1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nor/>
                                  </m:rPr>
                                  <a:rPr lang="el-GR" sz="2000" b="1" i="1">
                                    <a:latin typeface="Cambria Math" panose="02040503050406030204" pitchFamily="18" charset="0"/>
                                  </a:rPr>
                                  <m:t>η</m:t>
                                </m:r>
                              </m:e>
                              <m:sub>
                                <m:r>
                                  <a:rPr lang="en-US" sz="2000" b="1" i="1" smtClean="0">
                                    <a:latin typeface="Cambria Math" panose="02040503050406030204" pitchFamily="18" charset="0"/>
                                  </a:rPr>
                                  <m:t>𝑳</m:t>
                                </m:r>
                              </m:sub>
                            </m:sSub>
                          </m:num>
                          <m:den>
                            <m:sSub>
                              <m:sSubPr>
                                <m:ctrlPr>
                                  <a:rPr lang="en-US" sz="2000" b="1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l-GR" sz="2000" b="1" i="1" smtClean="0">
                                    <a:latin typeface="Cambria Math" panose="02040503050406030204" pitchFamily="18" charset="0"/>
                                  </a:rPr>
                                  <m:t>𝝅𝝁</m:t>
                                </m:r>
                              </m:e>
                              <m:sub>
                                <m:r>
                                  <a:rPr lang="en-US" sz="2000" b="1" i="1" smtClean="0">
                                    <a:latin typeface="Cambria Math" panose="02040503050406030204" pitchFamily="18" charset="0"/>
                                  </a:rPr>
                                  <m:t>𝒒</m:t>
                                </m:r>
                              </m:sub>
                            </m:sSub>
                          </m:den>
                        </m:f>
                        <m:f>
                          <m:fPr>
                            <m:ctrlPr>
                              <a:rPr lang="en-US" sz="2000" b="1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en-US" sz="2000" b="1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nor/>
                                  </m:rPr>
                                  <a:rPr lang="el-GR" sz="2000" b="1" i="1">
                                    <a:latin typeface="Cambria Math" panose="02040503050406030204" pitchFamily="18" charset="0"/>
                                  </a:rPr>
                                  <m:t>ρ</m:t>
                                </m:r>
                              </m:e>
                              <m:sub>
                                <m:r>
                                  <a:rPr lang="en-US" sz="2000" b="1" i="1" smtClean="0">
                                    <a:latin typeface="Cambria Math" panose="02040503050406030204" pitchFamily="18" charset="0"/>
                                  </a:rPr>
                                  <m:t>𝑳</m:t>
                                </m:r>
                              </m:sub>
                            </m:sSub>
                          </m:num>
                          <m:den>
                            <m:sSub>
                              <m:sSubPr>
                                <m:ctrlPr>
                                  <a:rPr lang="en-US" sz="2000" b="1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nor/>
                                  </m:rPr>
                                  <a:rPr lang="el-GR" sz="2000" b="1" i="1">
                                    <a:latin typeface="Cambria Math" panose="02040503050406030204" pitchFamily="18" charset="0"/>
                                  </a:rPr>
                                  <m:t>ρ</m:t>
                                </m:r>
                              </m:e>
                              <m:sub>
                                <m:r>
                                  <a:rPr lang="en-US" sz="2000" b="1" i="1" smtClean="0">
                                    <a:latin typeface="Cambria Math" panose="02040503050406030204" pitchFamily="18" charset="0"/>
                                  </a:rPr>
                                  <m:t>𝒒</m:t>
                                </m:r>
                              </m:sub>
                            </m:sSub>
                          </m:den>
                        </m:f>
                      </m:e>
                    </m:rad>
                  </m:oMath>
                </a14:m>
                <a:r>
                  <a:rPr lang="en-US" sz="2400" dirty="0"/>
                  <a:t>                                            </a:t>
                </a:r>
              </a:p>
            </p:txBody>
          </p:sp>
        </mc:Choice>
        <mc:Fallback xmlns=""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27260" y="1982112"/>
                <a:ext cx="8433308" cy="3532249"/>
              </a:xfrm>
              <a:prstGeom prst="rect">
                <a:avLst/>
              </a:prstGeom>
              <a:blipFill rotWithShape="1">
                <a:blip r:embed="rId3"/>
                <a:stretch>
                  <a:fillRect l="-2" t="-8" b="1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" name="Picture 9" descr="A picture containing weapon, knife, vector graphics&#10;&#10;Description automatically generated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6326" y="1740023"/>
            <a:ext cx="2441363" cy="2884366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Logo&#10;&#10;Description automatically generated with medium confidence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14886" y="15905"/>
            <a:ext cx="2345310" cy="548638"/>
          </a:xfrm>
          <a:prstGeom prst="rect">
            <a:avLst/>
          </a:prstGeom>
        </p:spPr>
      </p:pic>
      <p:pic>
        <p:nvPicPr>
          <p:cNvPr id="8" name="Picture 7" descr="Diagram&#10;&#10;Description automatically generated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83218" y="564543"/>
            <a:ext cx="8246743" cy="3968128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3793778" y="6486801"/>
            <a:ext cx="518917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chemeClr val="accent1"/>
                </a:solidFill>
              </a:rPr>
              <a:t>Source: </a:t>
            </a:r>
            <a:r>
              <a:rPr lang="en-GB" sz="1400" dirty="0">
                <a:solidFill>
                  <a:schemeClr val="accent1"/>
                </a:solidFill>
              </a:rPr>
              <a:t>https://wiki.physik.fu-berlin.de/fp/_media/private:ma17.pdf</a:t>
            </a:r>
            <a:endParaRPr lang="en-US" sz="1400" dirty="0">
              <a:solidFill>
                <a:schemeClr val="accent1"/>
              </a:solidFill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2299317" y="4705167"/>
            <a:ext cx="690195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Mass sensitivity distribution of AT-cut </a:t>
            </a:r>
            <a:r>
              <a:rPr lang="en-US" sz="2400" dirty="0" err="1"/>
              <a:t>qaurtz</a:t>
            </a:r>
            <a:r>
              <a:rPr lang="en-US" sz="2400" dirty="0"/>
              <a:t> crystal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Logo&#10;&#10;Description automatically generated with medium confidence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14886" y="15905"/>
            <a:ext cx="2345310" cy="548638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3876495" y="-5549"/>
            <a:ext cx="429829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/>
              <a:t>Experimental setup</a:t>
            </a:r>
            <a:r>
              <a:rPr lang="en-DE" sz="2800" b="1" dirty="0"/>
              <a:t> of QCM</a:t>
            </a:r>
            <a:endParaRPr lang="en-US" sz="2800" b="1" dirty="0"/>
          </a:p>
        </p:txBody>
      </p:sp>
      <p:sp>
        <p:nvSpPr>
          <p:cNvPr id="39" name="TextBox 38"/>
          <p:cNvSpPr txBox="1"/>
          <p:nvPr/>
        </p:nvSpPr>
        <p:spPr>
          <a:xfrm>
            <a:off x="3054489" y="6468889"/>
            <a:ext cx="66191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1"/>
                </a:solidFill>
              </a:rPr>
              <a:t>Source: </a:t>
            </a:r>
            <a:r>
              <a:rPr lang="en-GB" dirty="0">
                <a:solidFill>
                  <a:schemeClr val="accent1"/>
                </a:solidFill>
              </a:rPr>
              <a:t>https://wiki.physik.fu-berlin.de/fp/_media/private:ma17.pdf</a:t>
            </a:r>
            <a:endParaRPr lang="en-US" dirty="0">
              <a:solidFill>
                <a:schemeClr val="accent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1A82C97-0E0B-B6AF-EE9E-B2DFF5931653}"/>
              </a:ext>
            </a:extLst>
          </p:cNvPr>
          <p:cNvSpPr txBox="1"/>
          <p:nvPr/>
        </p:nvSpPr>
        <p:spPr>
          <a:xfrm>
            <a:off x="346229" y="1009499"/>
            <a:ext cx="7253056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DE" sz="2400" dirty="0"/>
              <a:t>The QCM consists of </a:t>
            </a:r>
            <a:r>
              <a:rPr lang="en-DE" sz="2400" dirty="0" err="1"/>
              <a:t>teflon</a:t>
            </a:r>
            <a:r>
              <a:rPr lang="en-DE" sz="2400" dirty="0"/>
              <a:t> holder for the Quartz, a </a:t>
            </a:r>
            <a:r>
              <a:rPr lang="en-DE" sz="2400" dirty="0" err="1"/>
              <a:t>potentiostat</a:t>
            </a:r>
            <a:r>
              <a:rPr lang="en-DE" sz="2400" dirty="0"/>
              <a:t> with three electrodes and digital interface for saving data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DE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DE" sz="2400" dirty="0"/>
              <a:t>The </a:t>
            </a:r>
            <a:r>
              <a:rPr lang="en-DE" sz="2400" dirty="0" err="1"/>
              <a:t>Qaurtz</a:t>
            </a:r>
            <a:r>
              <a:rPr lang="en-DE" sz="2400" dirty="0"/>
              <a:t> crystal is inserted into the holder so that only one side touches the solution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DE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DE" sz="2400" dirty="0"/>
              <a:t>Since the experiment is temperature sensitive, so the solution is tempered in a bath to have a constant temperature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DE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DE" sz="2400" dirty="0"/>
          </a:p>
        </p:txBody>
      </p:sp>
      <p:pic>
        <p:nvPicPr>
          <p:cNvPr id="13" name="Picture 12" descr="Graphical user interface&#10;&#10;Description automatically generated">
            <a:extLst>
              <a:ext uri="{FF2B5EF4-FFF2-40B4-BE49-F238E27FC236}">
                <a16:creationId xmlns:a16="http://schemas.microsoft.com/office/drawing/2014/main" id="{AFB8516D-EF7A-8E12-FCAC-AD9DC586A86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69838" y="4764325"/>
            <a:ext cx="3983862" cy="1451305"/>
          </a:xfrm>
          <a:prstGeom prst="rect">
            <a:avLst/>
          </a:prstGeom>
        </p:spPr>
      </p:pic>
      <p:pic>
        <p:nvPicPr>
          <p:cNvPr id="15" name="Picture 14" descr="Diagram&#10;&#10;Description automatically generated">
            <a:extLst>
              <a:ext uri="{FF2B5EF4-FFF2-40B4-BE49-F238E27FC236}">
                <a16:creationId xmlns:a16="http://schemas.microsoft.com/office/drawing/2014/main" id="{A7349B7F-967C-0CE6-3818-B2D68229350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65807" y="801815"/>
            <a:ext cx="4187893" cy="3037468"/>
          </a:xfrm>
          <a:prstGeom prst="rect">
            <a:avLst/>
          </a:prstGeom>
        </p:spPr>
      </p:pic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1DEEF365-5E04-1A45-6C47-B477FE559C16}"/>
              </a:ext>
            </a:extLst>
          </p:cNvPr>
          <p:cNvCxnSpPr>
            <a:cxnSpLocks/>
          </p:cNvCxnSpPr>
          <p:nvPr/>
        </p:nvCxnSpPr>
        <p:spPr>
          <a:xfrm>
            <a:off x="9525740" y="2452510"/>
            <a:ext cx="1461801" cy="2267784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4293CE54-F011-3539-7601-8743E3029E64}"/>
              </a:ext>
            </a:extLst>
          </p:cNvPr>
          <p:cNvSpPr txBox="1"/>
          <p:nvPr/>
        </p:nvSpPr>
        <p:spPr>
          <a:xfrm>
            <a:off x="8105350" y="4074852"/>
            <a:ext cx="119443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DE" sz="1400" dirty="0"/>
              <a:t>Quartz crystal</a:t>
            </a:r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43960CEF-00C8-1B1B-2C65-05C7FAF3D747}"/>
              </a:ext>
            </a:extLst>
          </p:cNvPr>
          <p:cNvCxnSpPr>
            <a:cxnSpLocks/>
          </p:cNvCxnSpPr>
          <p:nvPr/>
        </p:nvCxnSpPr>
        <p:spPr>
          <a:xfrm flipH="1">
            <a:off x="8702565" y="3542523"/>
            <a:ext cx="556653" cy="63707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A7A935B-070A-8BF8-405F-8D279FAC2AE9}"/>
              </a:ext>
            </a:extLst>
          </p:cNvPr>
          <p:cNvSpPr txBox="1"/>
          <p:nvPr/>
        </p:nvSpPr>
        <p:spPr>
          <a:xfrm>
            <a:off x="2991775" y="26630"/>
            <a:ext cx="511896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DE" sz="2800" b="1" kern="1200" dirty="0">
                <a:solidFill>
                  <a:schemeClr val="tx1"/>
                </a:solidFill>
                <a:ea typeface="+mj-ea"/>
                <a:cs typeface="+mj-cs"/>
              </a:rPr>
              <a:t>Measurement procedure of QCM</a:t>
            </a:r>
            <a:endParaRPr lang="en-US" sz="2800" b="1" kern="1200" dirty="0">
              <a:solidFill>
                <a:schemeClr val="tx1"/>
              </a:solidFill>
              <a:ea typeface="+mj-ea"/>
              <a:cs typeface="+mj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DAFF8F8-7C8C-453D-A366-16197D29825A}"/>
              </a:ext>
            </a:extLst>
          </p:cNvPr>
          <p:cNvSpPr txBox="1"/>
          <p:nvPr/>
        </p:nvSpPr>
        <p:spPr>
          <a:xfrm>
            <a:off x="1216243" y="976544"/>
            <a:ext cx="9268286" cy="37240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DE" sz="2400" dirty="0"/>
              <a:t>Initially t</a:t>
            </a:r>
            <a:r>
              <a:rPr lang="en-US" sz="2400" dirty="0"/>
              <a:t>he eigenfrequency is measured by applying an AC voltage to the crystal and comparing it with one obtained by Kanazawa and Gordon</a:t>
            </a:r>
            <a:r>
              <a:rPr lang="en-DE" sz="2400" dirty="0"/>
              <a:t>.</a:t>
            </a:r>
            <a:r>
              <a:rPr lang="en-US" sz="2400" dirty="0"/>
              <a:t> </a:t>
            </a:r>
            <a:r>
              <a:rPr lang="en-DE" sz="2400" dirty="0"/>
              <a:t>Layer thickness can be calculated using this results</a:t>
            </a: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DE" sz="2400" dirty="0"/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DE" sz="2400" dirty="0"/>
              <a:t>Secondly, the changes of frequency and binding with the quartz crystal  is performed by adding 11-Marcaptundenatic acid in ethanol and cytochrome c respectively.</a:t>
            </a: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DE" sz="2400" dirty="0"/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DE" sz="2400" dirty="0"/>
              <a:t>Lastly, cyclic voltammetry is done to test the activeness rate of cytochrome c on the crystal surface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4452A5D-C6E8-C285-318D-7080558924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99234" y="27993"/>
            <a:ext cx="2347163" cy="483382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6047B33B-477E-D10E-6B5C-7D82AC7A5D59}"/>
              </a:ext>
            </a:extLst>
          </p:cNvPr>
          <p:cNvSpPr txBox="1"/>
          <p:nvPr/>
        </p:nvSpPr>
        <p:spPr>
          <a:xfrm>
            <a:off x="2991775" y="6454067"/>
            <a:ext cx="66191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1"/>
                </a:solidFill>
              </a:rPr>
              <a:t>Source: </a:t>
            </a:r>
            <a:r>
              <a:rPr lang="en-GB" dirty="0">
                <a:solidFill>
                  <a:schemeClr val="accent1"/>
                </a:solidFill>
              </a:rPr>
              <a:t>https://wiki.physik.fu-berlin.de/fp/_media/private:ma17.pdf</a:t>
            </a:r>
            <a:endParaRPr lang="en-US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0371825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Logo&#10;&#10;Description automatically generated with medium confidence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61618" y="35504"/>
            <a:ext cx="2345310" cy="537917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3317139" y="-81510"/>
            <a:ext cx="451392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u="sng" dirty="0"/>
              <a:t>Data Analysis and Results</a:t>
            </a:r>
          </a:p>
        </p:txBody>
      </p:sp>
      <p:pic>
        <p:nvPicPr>
          <p:cNvPr id="6" name="Picture 5" descr="A picture containing chart&#10;&#10;Description automatically generated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25707" y="984857"/>
            <a:ext cx="5381221" cy="3767024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213065" y="1228621"/>
                <a:ext cx="6391922" cy="43720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2400" dirty="0"/>
                  <a:t>Sudden drop of frequency at t= 392s  due to</a:t>
                </a:r>
              </a:p>
              <a:p>
                <a:r>
                  <a:rPr lang="en-US" sz="2400" dirty="0"/>
                  <a:t>    submerging the quartz into Ethanol</a:t>
                </a:r>
              </a:p>
              <a:p>
                <a:endParaRPr lang="en-US" sz="2400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DE" sz="2400" dirty="0"/>
                  <a:t>Saturation of the curve</a:t>
                </a:r>
                <a:r>
                  <a:rPr lang="en-US" sz="2400" dirty="0"/>
                  <a:t> at </a:t>
                </a:r>
                <a:r>
                  <a:rPr lang="en-DE" sz="2400" dirty="0"/>
                  <a:t>around </a:t>
                </a:r>
                <a:r>
                  <a:rPr lang="en-US" sz="2400" dirty="0"/>
                  <a:t>t= 460s</a:t>
                </a:r>
                <a:r>
                  <a:rPr lang="en-DE" sz="2400" dirty="0"/>
                  <a:t>. The</a:t>
                </a:r>
              </a:p>
              <a:p>
                <a:r>
                  <a:rPr lang="en-DE" sz="2400" dirty="0"/>
                  <a:t>    crystal exhibits the eigenfrequency of vibration</a:t>
                </a:r>
              </a:p>
              <a:p>
                <a:r>
                  <a:rPr lang="en-DE" sz="2400" dirty="0"/>
                  <a:t>    associated with ethanol </a:t>
                </a:r>
              </a:p>
              <a:p>
                <a:r>
                  <a:rPr lang="en-DE" sz="2400" dirty="0"/>
                  <a:t>    </a:t>
                </a:r>
                <a:endParaRPr lang="en-US" sz="2400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2400" dirty="0"/>
                  <a:t>Observed eigenfrequency,</a:t>
                </a:r>
                <a:r>
                  <a:rPr lang="en-GB" sz="2400" b="1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24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1" i="1">
                            <a:latin typeface="Cambria Math" panose="02040503050406030204" pitchFamily="18" charset="0"/>
                          </a:rPr>
                          <m:t>𝒇</m:t>
                        </m:r>
                      </m:e>
                      <m:sub>
                        <m:r>
                          <a:rPr lang="en-US" sz="2400" b="1" i="1">
                            <a:latin typeface="Cambria Math" panose="02040503050406030204" pitchFamily="18" charset="0"/>
                          </a:rPr>
                          <m:t>𝒂𝒊𝒓</m:t>
                        </m:r>
                      </m:sub>
                    </m:sSub>
                  </m:oMath>
                </a14:m>
                <a:r>
                  <a:rPr lang="en-US" sz="2400" dirty="0"/>
                  <a:t> = (5016009.7 </a:t>
                </a:r>
                <a:r>
                  <a:rPr lang="en-GB" sz="2400" dirty="0">
                    <a:latin typeface="Arial" panose="020B0604020202020204" pitchFamily="34" charset="0"/>
                  </a:rPr>
                  <a:t>±</a:t>
                </a:r>
                <a:r>
                  <a:rPr lang="en-US" sz="2400" dirty="0">
                    <a:latin typeface="Arial" panose="020B0604020202020204" pitchFamily="34" charset="0"/>
                  </a:rPr>
                  <a:t> 0.005)Hz,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24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1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2400" b="1" i="1">
                            <a:latin typeface="Cambria Math" panose="02040503050406030204" pitchFamily="18" charset="0"/>
                          </a:rPr>
                          <m:t>𝒇</m:t>
                        </m:r>
                      </m:e>
                      <m:sub>
                        <m:r>
                          <a:rPr lang="en-US" sz="2400" b="1" i="1">
                            <a:latin typeface="Cambria Math" panose="02040503050406030204" pitchFamily="18" charset="0"/>
                          </a:rPr>
                          <m:t>𝒆𝒕𝒉𝒂𝒏𝒐𝒍</m:t>
                        </m:r>
                      </m:sub>
                    </m:sSub>
                  </m:oMath>
                </a14:m>
                <a:r>
                  <a:rPr lang="en-US" sz="2400" dirty="0"/>
                  <a:t> = </a:t>
                </a:r>
                <a:r>
                  <a:rPr lang="en-GB" sz="2400" dirty="0"/>
                  <a:t>(5015123.4 ± .003)</a:t>
                </a:r>
                <a:r>
                  <a:rPr lang="en-US" sz="2400" dirty="0"/>
                  <a:t>Hz</a:t>
                </a:r>
                <a:endParaRPr lang="en-DE" sz="2400" dirty="0"/>
              </a:p>
              <a:p>
                <a:endParaRPr lang="en-DE" sz="2400" b="1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DE" sz="2400" dirty="0"/>
                  <a:t>Layer thickness: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1" i="1">
                            <a:latin typeface="Cambria Math" panose="02040503050406030204" pitchFamily="18" charset="0"/>
                          </a:rPr>
                          <m:t>𝒅</m:t>
                        </m:r>
                      </m:e>
                      <m:sub>
                        <m:r>
                          <a:rPr lang="en-US" sz="2400" b="1" i="1">
                            <a:latin typeface="Cambria Math" panose="02040503050406030204" pitchFamily="18" charset="0"/>
                          </a:rPr>
                          <m:t>𝒒</m:t>
                        </m:r>
                      </m:sub>
                    </m:sSub>
                  </m:oMath>
                </a14:m>
                <a:r>
                  <a:rPr lang="en-US" sz="2400" b="1" dirty="0"/>
                  <a:t>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400" b="1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sz="2400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1" i="1" smtClean="0">
                                <a:latin typeface="Cambria Math" panose="02040503050406030204" pitchFamily="18" charset="0"/>
                              </a:rPr>
                              <m:t>𝒏</m:t>
                            </m:r>
                            <m:r>
                              <a:rPr lang="en-US" sz="2400" b="1" i="1">
                                <a:latin typeface="Cambria Math" panose="02040503050406030204" pitchFamily="18" charset="0"/>
                              </a:rPr>
                              <m:t>𝒌</m:t>
                            </m:r>
                          </m:e>
                          <m:sub>
                            <m:r>
                              <a:rPr lang="en-US" sz="2400" b="1" i="1" smtClean="0">
                                <a:latin typeface="Cambria Math" panose="02040503050406030204" pitchFamily="18" charset="0"/>
                              </a:rPr>
                              <m:t>𝑹</m:t>
                            </m:r>
                          </m:sub>
                        </m:sSub>
                      </m:num>
                      <m:den>
                        <m:r>
                          <a:rPr lang="en-DE" sz="2400" b="1" i="1" smtClean="0">
                            <a:latin typeface="Cambria Math" panose="02040503050406030204" pitchFamily="18" charset="0"/>
                          </a:rPr>
                          <m:t>𝒇</m:t>
                        </m:r>
                      </m:den>
                    </m:f>
                  </m:oMath>
                </a14:m>
                <a:r>
                  <a:rPr lang="en-US" sz="1400" b="1" dirty="0"/>
                  <a:t>   </a:t>
                </a:r>
                <a:r>
                  <a:rPr lang="en-DE" sz="2400" b="1" dirty="0"/>
                  <a:t>=</a:t>
                </a:r>
                <a:r>
                  <a:rPr lang="en-GB" sz="2400" b="1" dirty="0"/>
                  <a:t> (0.3317 ± .002)mm</a:t>
                </a:r>
                <a:endParaRPr lang="en-US" sz="1400" b="1" dirty="0"/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3065" y="1228621"/>
                <a:ext cx="6391922" cy="4372031"/>
              </a:xfrm>
              <a:prstGeom prst="rect">
                <a:avLst/>
              </a:prstGeom>
              <a:blipFill>
                <a:blip r:embed="rId4"/>
                <a:stretch>
                  <a:fillRect l="-1336" t="-1116"/>
                </a:stretch>
              </a:blipFill>
            </p:spPr>
            <p:txBody>
              <a:bodyPr/>
              <a:lstStyle/>
              <a:p>
                <a:r>
                  <a:rPr lang="en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extBox 6"/>
          <p:cNvSpPr txBox="1"/>
          <p:nvPr/>
        </p:nvSpPr>
        <p:spPr>
          <a:xfrm>
            <a:off x="1615736" y="461637"/>
            <a:ext cx="907297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b="1" dirty="0">
                <a:solidFill>
                  <a:srgbClr val="000000"/>
                </a:solidFill>
                <a:effectLst/>
              </a:rPr>
              <a:t>Eigenfrequency and layer thickness of the quartz crystal</a:t>
            </a:r>
            <a:endParaRPr lang="en-US" sz="2800" b="1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Logo&#10;&#10;Description automatically generated with medium confidence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14886" y="15905"/>
            <a:ext cx="2345310" cy="54863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7752" y="48821"/>
            <a:ext cx="988085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Binding of 11-Mercaptundecanic acid(MUA) on the crystal surface</a:t>
            </a:r>
          </a:p>
        </p:txBody>
      </p:sp>
      <p:pic>
        <p:nvPicPr>
          <p:cNvPr id="7" name="Picture 6" descr="Chart&#10;&#10;Description automatically generated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24585" y="791645"/>
            <a:ext cx="5170502" cy="2754299"/>
          </a:xfrm>
          <a:prstGeom prst="rect">
            <a:avLst/>
          </a:prstGeom>
        </p:spPr>
      </p:pic>
      <p:pic>
        <p:nvPicPr>
          <p:cNvPr id="9" name="Picture 8" descr="Graphical user interface, chart&#10;&#10;Description automatically generated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44683" y="3686925"/>
            <a:ext cx="5170502" cy="275430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/>
              <p:cNvSpPr txBox="1"/>
              <p:nvPr/>
            </p:nvSpPr>
            <p:spPr>
              <a:xfrm>
                <a:off x="257453" y="834493"/>
                <a:ext cx="6462944" cy="52961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GB" sz="2400" dirty="0"/>
                  <a:t>A</a:t>
                </a:r>
                <a:r>
                  <a:rPr lang="en-US" sz="2400" dirty="0"/>
                  <a:t>t time of 400s we have put MUA in a beaker containing crystal and ethanol</a:t>
                </a:r>
                <a:r>
                  <a:rPr lang="en-DE" sz="2400" dirty="0"/>
                  <a:t>.</a:t>
                </a:r>
                <a:r>
                  <a:rPr lang="en-US" sz="2400" dirty="0"/>
                  <a:t>The Upper bound shows the eigenfrequency of crystal in ethanol</a:t>
                </a:r>
                <a:endParaRPr lang="en-DE" sz="2400" dirty="0"/>
              </a:p>
              <a:p>
                <a:endParaRPr lang="en-US" sz="2400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2400" dirty="0"/>
                  <a:t>The lower bound shows the averaged value for the eigenfrequency of crystal after MUA monolayer deposition</a:t>
                </a:r>
                <a:endParaRPr lang="en-DE" sz="2400" dirty="0"/>
              </a:p>
              <a:p>
                <a:endParaRPr lang="en-US" sz="2400" dirty="0"/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sz="2400" dirty="0"/>
                  <a:t>The changes of frequency </a:t>
                </a:r>
                <a:r>
                  <a:rPr lang="en-GB" sz="2400" dirty="0"/>
                  <a:t>∆</a:t>
                </a:r>
                <a:r>
                  <a:rPr lang="en-GB" sz="2400" i="1" dirty="0"/>
                  <a:t>f</a:t>
                </a:r>
                <a:r>
                  <a:rPr lang="en-US" sz="2400" i="1" dirty="0"/>
                  <a:t> = (</a:t>
                </a:r>
                <a:r>
                  <a:rPr lang="en-US" sz="2400" i="1" dirty="0">
                    <a:solidFill>
                      <a:srgbClr val="000000"/>
                    </a:solidFill>
                  </a:rPr>
                  <a:t>19.0</a:t>
                </a:r>
                <a:r>
                  <a:rPr lang="en-GB" sz="2400" dirty="0">
                    <a:solidFill>
                      <a:srgbClr val="000000"/>
                    </a:solidFill>
                  </a:rPr>
                  <a:t> </a:t>
                </a:r>
                <a:r>
                  <a:rPr lang="en-GB" sz="2400" i="1" dirty="0">
                    <a:solidFill>
                      <a:srgbClr val="000000"/>
                    </a:solidFill>
                  </a:rPr>
                  <a:t>± </a:t>
                </a:r>
                <a:r>
                  <a:rPr lang="en-GB" sz="2400" dirty="0">
                    <a:solidFill>
                      <a:srgbClr val="000000"/>
                    </a:solidFill>
                  </a:rPr>
                  <a:t>0</a:t>
                </a:r>
                <a:r>
                  <a:rPr lang="en-GB" sz="2400" i="1" dirty="0">
                    <a:solidFill>
                      <a:srgbClr val="000000"/>
                    </a:solidFill>
                  </a:rPr>
                  <a:t>.</a:t>
                </a:r>
                <a:r>
                  <a:rPr lang="en-US" sz="2400" i="1" dirty="0">
                    <a:solidFill>
                      <a:srgbClr val="000000"/>
                    </a:solidFill>
                  </a:rPr>
                  <a:t>1</a:t>
                </a:r>
                <a:r>
                  <a:rPr lang="en-US" sz="2400" dirty="0">
                    <a:solidFill>
                      <a:srgbClr val="000000"/>
                    </a:solidFill>
                  </a:rPr>
                  <a:t>)Hz and mass,  </a:t>
                </a:r>
                <a:r>
                  <a:rPr lang="en-GB" sz="2400" dirty="0"/>
                  <a:t>∆</a:t>
                </a:r>
                <a:r>
                  <a:rPr lang="en-US" sz="2400" i="1" dirty="0"/>
                  <a:t>m = </a:t>
                </a:r>
                <a:r>
                  <a:rPr lang="en-US" sz="2400" i="1" dirty="0">
                    <a:solidFill>
                      <a:srgbClr val="000000"/>
                    </a:solidFill>
                  </a:rPr>
                  <a:t>(4.19 </a:t>
                </a:r>
                <a:r>
                  <a:rPr lang="en-GB" sz="2400" i="1" dirty="0">
                    <a:solidFill>
                      <a:srgbClr val="000000"/>
                    </a:solidFill>
                    <a:effectLst/>
                  </a:rPr>
                  <a:t>±</a:t>
                </a:r>
                <a:r>
                  <a:rPr lang="en-US" sz="2400" i="1" dirty="0">
                    <a:solidFill>
                      <a:srgbClr val="000000"/>
                    </a:solidFill>
                    <a:effectLst/>
                  </a:rPr>
                  <a:t> 0.01)*</a:t>
                </a:r>
                <a:r>
                  <a:rPr lang="en-US" sz="2400" dirty="0"/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−7</m:t>
                        </m:r>
                      </m:sup>
                    </m:sSup>
                  </m:oMath>
                </a14:m>
                <a:r>
                  <a:rPr lang="en-US" sz="2400" i="1" dirty="0">
                    <a:solidFill>
                      <a:srgbClr val="000000"/>
                    </a:solidFill>
                  </a:rPr>
                  <a:t>g</a:t>
                </a:r>
                <a:endParaRPr lang="en-DE" sz="2400" i="1" dirty="0">
                  <a:solidFill>
                    <a:srgbClr val="000000"/>
                  </a:solidFill>
                </a:endParaRPr>
              </a:p>
              <a:p>
                <a:endParaRPr lang="en-US" sz="2400" i="1" dirty="0">
                  <a:solidFill>
                    <a:srgbClr val="000000"/>
                  </a:solidFill>
                </a:endParaRP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sz="2400" dirty="0"/>
                  <a:t>Number of MUA molecules bound to the </a:t>
                </a:r>
                <a:r>
                  <a:rPr lang="en-US" sz="2400" dirty="0" err="1"/>
                  <a:t>surfac</a:t>
                </a:r>
                <a:r>
                  <a:rPr lang="en-DE" sz="2400" dirty="0"/>
                  <a:t>e</a:t>
                </a:r>
                <a:r>
                  <a:rPr lang="en-US" sz="2400" b="1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2400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sz="2400" b="0" i="0" smtClean="0">
                            <a:latin typeface="Cambria Math" panose="02040503050406030204" pitchFamily="18" charset="0"/>
                          </a:rPr>
                          <m:t>MUA</m:t>
                        </m:r>
                      </m:sub>
                    </m:sSub>
                  </m:oMath>
                </a14:m>
                <a:r>
                  <a:rPr lang="en-US" sz="2400" dirty="0"/>
                  <a:t> = (1</a:t>
                </a:r>
                <a:r>
                  <a:rPr lang="en-US" sz="2400" i="1" dirty="0"/>
                  <a:t>.</a:t>
                </a:r>
                <a:r>
                  <a:rPr lang="en-US" sz="2400" dirty="0"/>
                  <a:t>91 </a:t>
                </a:r>
                <a:r>
                  <a:rPr lang="en-US" sz="2400" i="1" dirty="0"/>
                  <a:t>± 0.</a:t>
                </a:r>
                <a:r>
                  <a:rPr lang="en-US" sz="2400" dirty="0"/>
                  <a:t>01)*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−9</m:t>
                        </m:r>
                      </m:sup>
                    </m:sSup>
                  </m:oMath>
                </a14:m>
                <a:r>
                  <a:rPr lang="en-US" sz="2400" dirty="0"/>
                  <a:t> and per area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𝑀𝑈𝐴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𝑎𝑟𝑒𝑎</m:t>
                        </m:r>
                      </m:sub>
                    </m:sSub>
                  </m:oMath>
                </a14:m>
                <a:r>
                  <a:rPr lang="en-DE" sz="2400" dirty="0"/>
                  <a:t>= </a:t>
                </a:r>
                <a:r>
                  <a:rPr lang="en-US" sz="2400" dirty="0"/>
                  <a:t>(9.16</a:t>
                </a:r>
                <a:r>
                  <a:rPr lang="en-US" sz="2400" i="1" dirty="0"/>
                  <a:t> ± 0.06)*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14</m:t>
                        </m:r>
                      </m:sup>
                    </m:sSup>
                  </m:oMath>
                </a14:m>
                <a:r>
                  <a:rPr lang="en-US" sz="2400" i="1" dirty="0"/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𝑐𝑚</m:t>
                        </m:r>
                      </m:e>
                      <m:sup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en-US" sz="2400" dirty="0"/>
              </a:p>
            </p:txBody>
          </p:sp>
        </mc:Choice>
        <mc:Fallback xmlns="">
          <p:sp>
            <p:nvSpPr>
              <p:cNvPr id="2" name="TextBox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7453" y="834493"/>
                <a:ext cx="6462944" cy="5296130"/>
              </a:xfrm>
              <a:prstGeom prst="rect">
                <a:avLst/>
              </a:prstGeom>
              <a:blipFill>
                <a:blip r:embed="rId5"/>
                <a:stretch>
                  <a:fillRect l="-1226" t="-921" r="-1792" b="-1151"/>
                </a:stretch>
              </a:blipFill>
            </p:spPr>
            <p:txBody>
              <a:bodyPr/>
              <a:lstStyle/>
              <a:p>
                <a:r>
                  <a:rPr lang="en-DE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Logo&#10;&#10;Description automatically generated with medium confidence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14886" y="15905"/>
            <a:ext cx="2345310" cy="548638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1269508" y="20835"/>
            <a:ext cx="856153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          Cytochrome c binding with MUA monolayer</a:t>
            </a:r>
          </a:p>
        </p:txBody>
      </p:sp>
      <p:pic>
        <p:nvPicPr>
          <p:cNvPr id="5" name="Picture 4" descr="Chart, line chart&#10;&#10;Description automatically generated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51066" y="1212849"/>
            <a:ext cx="5209130" cy="2906927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43686" y="1322947"/>
            <a:ext cx="6498501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We put cytochrome in buffer solution </a:t>
            </a:r>
            <a:r>
              <a:rPr lang="en-US" sz="2400" dirty="0" err="1"/>
              <a:t>containg</a:t>
            </a:r>
            <a:r>
              <a:rPr lang="en-US" sz="2400" dirty="0"/>
              <a:t> Crystal with MUA molecules deposited on its surface at 750s</a:t>
            </a:r>
          </a:p>
          <a:p>
            <a:endParaRPr lang="en-US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Because of the disturbance during time of adding the cytochrome we can see large fluctuations in graph</a:t>
            </a:r>
          </a:p>
          <a:p>
            <a:endParaRPr lang="en-US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Then the frequency starts decreasing again as cytochrome starts binding with MUA layer</a:t>
            </a:r>
            <a:endParaRPr lang="en-DE" sz="24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Logo&#10;&#10;Description automatically generated with medium confidence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14886" y="15905"/>
            <a:ext cx="2345310" cy="548638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1305019" y="20835"/>
            <a:ext cx="856153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          Cytochrome c binding with MUA monolayer</a:t>
            </a:r>
          </a:p>
        </p:txBody>
      </p:sp>
      <p:pic>
        <p:nvPicPr>
          <p:cNvPr id="7" name="Picture 6" descr="Chart, line chart&#10;&#10;Description automatically generated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81530" y="939682"/>
            <a:ext cx="4492102" cy="280777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/>
              <p:cNvSpPr txBox="1"/>
              <p:nvPr/>
            </p:nvSpPr>
            <p:spPr>
              <a:xfrm>
                <a:off x="255396" y="921483"/>
                <a:ext cx="6997660" cy="533011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2400" dirty="0"/>
                  <a:t>The upper bound and lower bound describes the point of putting cytochrome in solution and the point of saturation respectively</a:t>
                </a:r>
              </a:p>
              <a:p>
                <a:endParaRPr lang="en-US" sz="2400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2400" dirty="0"/>
                  <a:t>New resonance </a:t>
                </a:r>
                <a:r>
                  <a:rPr lang="en-US" sz="2400" dirty="0" err="1"/>
                  <a:t>frequenc</a:t>
                </a:r>
                <a:r>
                  <a:rPr lang="en-US" sz="2400" dirty="0"/>
                  <a:t>y is attained in response to the binding of cytochrome molecules with MUA monolayer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sz="2400" dirty="0"/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sz="2400" dirty="0"/>
                  <a:t>The observed  changes of frequency,</a:t>
                </a:r>
                <a:r>
                  <a:rPr lang="en-GB" sz="2400" dirty="0"/>
                  <a:t>∆</a:t>
                </a:r>
                <a:r>
                  <a:rPr lang="en-GB" sz="2400" i="1" dirty="0"/>
                  <a:t>f</a:t>
                </a:r>
                <a:r>
                  <a:rPr lang="en-US" sz="2400" i="1" dirty="0"/>
                  <a:t> = (</a:t>
                </a:r>
                <a:r>
                  <a:rPr lang="en-GB" sz="2400" dirty="0">
                    <a:solidFill>
                      <a:srgbClr val="000000"/>
                    </a:solidFill>
                  </a:rPr>
                  <a:t>4</a:t>
                </a:r>
                <a:r>
                  <a:rPr lang="en-GB" sz="2400" i="1" dirty="0">
                    <a:solidFill>
                      <a:srgbClr val="000000"/>
                    </a:solidFill>
                  </a:rPr>
                  <a:t>.</a:t>
                </a:r>
                <a:r>
                  <a:rPr lang="en-GB" sz="2400" dirty="0">
                    <a:solidFill>
                      <a:srgbClr val="000000"/>
                    </a:solidFill>
                  </a:rPr>
                  <a:t>30 </a:t>
                </a:r>
                <a:r>
                  <a:rPr lang="en-GB" sz="2400" i="1" dirty="0">
                    <a:solidFill>
                      <a:srgbClr val="000000"/>
                    </a:solidFill>
                  </a:rPr>
                  <a:t>± </a:t>
                </a:r>
                <a:r>
                  <a:rPr lang="en-GB" sz="2400" dirty="0">
                    <a:solidFill>
                      <a:srgbClr val="000000"/>
                    </a:solidFill>
                  </a:rPr>
                  <a:t>0</a:t>
                </a:r>
                <a:r>
                  <a:rPr lang="en-GB" sz="2400" i="1" dirty="0">
                    <a:solidFill>
                      <a:srgbClr val="000000"/>
                    </a:solidFill>
                  </a:rPr>
                  <a:t>.</a:t>
                </a:r>
                <a:r>
                  <a:rPr lang="en-GB" sz="2400" dirty="0">
                    <a:solidFill>
                      <a:srgbClr val="000000"/>
                    </a:solidFill>
                  </a:rPr>
                  <a:t>50</a:t>
                </a:r>
                <a:r>
                  <a:rPr lang="en-US" sz="2400" dirty="0">
                    <a:solidFill>
                      <a:srgbClr val="000000"/>
                    </a:solidFill>
                  </a:rPr>
                  <a:t>)Hz and equivalence mass,</a:t>
                </a:r>
                <a:r>
                  <a:rPr lang="en-GB" sz="2400" dirty="0"/>
                  <a:t> ∆</a:t>
                </a:r>
                <a:r>
                  <a:rPr lang="en-US" sz="2400" i="1" dirty="0"/>
                  <a:t>m = </a:t>
                </a:r>
                <a:r>
                  <a:rPr lang="en-US" sz="2400" i="1" dirty="0">
                    <a:solidFill>
                      <a:srgbClr val="000000"/>
                    </a:solidFill>
                  </a:rPr>
                  <a:t>(95.5 </a:t>
                </a:r>
                <a:r>
                  <a:rPr lang="en-GB" sz="2400" i="1" dirty="0">
                    <a:solidFill>
                      <a:srgbClr val="000000"/>
                    </a:solidFill>
                    <a:effectLst/>
                  </a:rPr>
                  <a:t>±</a:t>
                </a:r>
                <a:r>
                  <a:rPr lang="en-US" sz="2400" i="1" dirty="0">
                    <a:solidFill>
                      <a:srgbClr val="000000"/>
                    </a:solidFill>
                    <a:effectLst/>
                  </a:rPr>
                  <a:t> 0.5) ng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endParaRPr lang="en-US" sz="2400" i="1" dirty="0">
                  <a:solidFill>
                    <a:srgbClr val="000000"/>
                  </a:solidFill>
                </a:endParaRP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sz="2400" dirty="0"/>
                  <a:t>Number of molecules bound to the surface,</a:t>
                </a:r>
                <a:r>
                  <a:rPr lang="en-GB" sz="2400" b="1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2400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sz="2400" b="0" i="0" smtClean="0">
                            <a:latin typeface="Cambria Math" panose="02040503050406030204" pitchFamily="18" charset="0"/>
                          </a:rPr>
                          <m:t>Cyt</m:t>
                        </m:r>
                        <m:r>
                          <a:rPr lang="en-US" sz="2400" b="1" i="1" smtClean="0">
                            <a:latin typeface="Cambria Math" panose="02040503050406030204" pitchFamily="18" charset="0"/>
                          </a:rPr>
                          <m:t>𝒐</m:t>
                        </m:r>
                      </m:sub>
                    </m:sSub>
                  </m:oMath>
                </a14:m>
                <a:r>
                  <a:rPr lang="en-US" sz="2400" dirty="0"/>
                  <a:t>=</a:t>
                </a:r>
              </a:p>
              <a:p>
                <a:r>
                  <a:rPr lang="en-US" sz="2400" dirty="0"/>
                  <a:t>     (4</a:t>
                </a:r>
                <a:r>
                  <a:rPr lang="en-US" sz="2400" i="1" dirty="0"/>
                  <a:t>.</a:t>
                </a:r>
                <a:r>
                  <a:rPr lang="en-US" sz="2400" dirty="0"/>
                  <a:t>79</a:t>
                </a:r>
                <a:r>
                  <a:rPr lang="en-US" sz="2400" i="1" dirty="0"/>
                  <a:t>± 0.</a:t>
                </a:r>
                <a:r>
                  <a:rPr lang="en-US" sz="2400" dirty="0"/>
                  <a:t>06)*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12</m:t>
                        </m:r>
                      </m:sup>
                    </m:sSup>
                  </m:oMath>
                </a14:m>
                <a:r>
                  <a:rPr lang="en-US" sz="2400" dirty="0"/>
                  <a:t> and per area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𝑚𝑜𝑙𝑒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𝑎𝑟𝑒𝑎</m:t>
                        </m:r>
                      </m:sub>
                    </m:sSub>
                  </m:oMath>
                </a14:m>
                <a:r>
                  <a:rPr lang="en-US" sz="2400" dirty="0"/>
                  <a:t>=</a:t>
                </a:r>
              </a:p>
              <a:p>
                <a:r>
                  <a:rPr lang="en-US" sz="2400" dirty="0"/>
                  <a:t>     (3.77</a:t>
                </a:r>
                <a:r>
                  <a:rPr lang="en-US" sz="2400" i="1" dirty="0"/>
                  <a:t> ±0.05)*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12</m:t>
                        </m:r>
                      </m:sup>
                    </m:sSup>
                  </m:oMath>
                </a14:m>
                <a:r>
                  <a:rPr lang="en-US" sz="2400" i="1" dirty="0"/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𝑐𝑚</m:t>
                        </m:r>
                      </m:e>
                      <m:sup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en-US" sz="2400" dirty="0"/>
              </a:p>
            </p:txBody>
          </p:sp>
        </mc:Choice>
        <mc:Fallback xmlns=""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5396" y="921483"/>
                <a:ext cx="6997660" cy="5330113"/>
              </a:xfrm>
              <a:prstGeom prst="rect">
                <a:avLst/>
              </a:prstGeom>
              <a:blipFill>
                <a:blip r:embed="rId4"/>
                <a:stretch>
                  <a:fillRect l="-1220" t="-914" r="-523" b="-1600"/>
                </a:stretch>
              </a:blipFill>
            </p:spPr>
            <p:txBody>
              <a:bodyPr/>
              <a:lstStyle/>
              <a:p>
                <a:r>
                  <a:rPr lang="en-DE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Logo&#10;&#10;Description automatically generated with medium confidence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14886" y="15905"/>
            <a:ext cx="2345310" cy="548638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2104008" y="20835"/>
            <a:ext cx="763479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          Cytochrome c binding with MUA monolayer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E66689D-9256-AF94-B8FE-61BF863C9ED2}"/>
              </a:ext>
            </a:extLst>
          </p:cNvPr>
          <p:cNvSpPr txBox="1"/>
          <p:nvPr/>
        </p:nvSpPr>
        <p:spPr>
          <a:xfrm>
            <a:off x="366769" y="1029810"/>
            <a:ext cx="7134862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400" dirty="0"/>
              <a:t>Cyclic Voltammetry is an elect</a:t>
            </a:r>
            <a:r>
              <a:rPr lang="en-DE" sz="2400" dirty="0"/>
              <a:t>r</a:t>
            </a:r>
            <a:r>
              <a:rPr lang="en-GB" sz="2400" dirty="0" err="1"/>
              <a:t>och</a:t>
            </a:r>
            <a:r>
              <a:rPr lang="en-DE" sz="2400" dirty="0"/>
              <a:t>e</a:t>
            </a:r>
            <a:r>
              <a:rPr lang="en-GB" sz="2400" dirty="0" err="1"/>
              <a:t>mical</a:t>
            </a:r>
            <a:r>
              <a:rPr lang="en-GB" sz="2400" dirty="0"/>
              <a:t> technique which is employed</a:t>
            </a:r>
            <a:r>
              <a:rPr lang="en-DE" sz="2400" dirty="0"/>
              <a:t> </a:t>
            </a:r>
            <a:r>
              <a:rPr lang="en-GB" sz="2400" dirty="0"/>
              <a:t>to study the oxidation and reduction processes of molecular species.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400" dirty="0"/>
              <a:t>Till now our calculation is based on mass and frequency</a:t>
            </a:r>
            <a:r>
              <a:rPr lang="en-DE" sz="2400" dirty="0"/>
              <a:t> but</a:t>
            </a:r>
            <a:r>
              <a:rPr lang="en-GB" sz="2400" dirty="0"/>
              <a:t> now we want to find mass by process of reduction for this we</a:t>
            </a:r>
            <a:r>
              <a:rPr lang="en-DE" sz="2400" dirty="0"/>
              <a:t> </a:t>
            </a:r>
            <a:r>
              <a:rPr lang="en-GB" sz="2400" dirty="0"/>
              <a:t>need charge transfer which is done by voltameter.</a:t>
            </a:r>
          </a:p>
          <a:p>
            <a:endParaRPr lang="en-GB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400" dirty="0"/>
              <a:t>By process of electron absorption which reduces the Fe3+ to Fe2+.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400" dirty="0"/>
              <a:t>By this we find whether the cytochrome c is active and to the</a:t>
            </a:r>
            <a:r>
              <a:rPr lang="en-DE" sz="2400" dirty="0"/>
              <a:t> </a:t>
            </a:r>
            <a:r>
              <a:rPr lang="en-GB" sz="2400" dirty="0"/>
              <a:t>number of molecules bound on crystal as </a:t>
            </a:r>
            <a:r>
              <a:rPr lang="en-DE" sz="2400" dirty="0"/>
              <a:t>each </a:t>
            </a:r>
            <a:r>
              <a:rPr lang="en-GB" sz="2400" dirty="0"/>
              <a:t>cytochrome c contains</a:t>
            </a:r>
            <a:r>
              <a:rPr lang="en-DE" sz="2400" dirty="0"/>
              <a:t> </a:t>
            </a:r>
            <a:r>
              <a:rPr lang="en-GB" sz="2400" dirty="0"/>
              <a:t>one </a:t>
            </a:r>
            <a:r>
              <a:rPr lang="en-GB" sz="2400" dirty="0" err="1"/>
              <a:t>heme</a:t>
            </a:r>
            <a:r>
              <a:rPr lang="en-GB" sz="2400" dirty="0"/>
              <a:t> group</a:t>
            </a:r>
            <a:endParaRPr lang="en-DE" sz="2400" dirty="0"/>
          </a:p>
        </p:txBody>
      </p:sp>
      <p:pic>
        <p:nvPicPr>
          <p:cNvPr id="10" name="Picture 9" descr="Chart, line chart&#10;&#10;Description automatically generated">
            <a:extLst>
              <a:ext uri="{FF2B5EF4-FFF2-40B4-BE49-F238E27FC236}">
                <a16:creationId xmlns:a16="http://schemas.microsoft.com/office/drawing/2014/main" id="{B121A013-4C3A-4286-5B68-4C52D0F2169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99790" y="963549"/>
            <a:ext cx="4882718" cy="47355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896827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Logo&#10;&#10;Description automatically generated with medium confidence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14886" y="15905"/>
            <a:ext cx="2345310" cy="548638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2167004" y="1171621"/>
            <a:ext cx="8761410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2400" dirty="0"/>
              <a:t>Biosensing and food </a:t>
            </a:r>
            <a:r>
              <a:rPr lang="en-DE" sz="2400" dirty="0"/>
              <a:t>analysis</a:t>
            </a:r>
            <a:endParaRPr lang="en-US" sz="2400" dirty="0"/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2400" dirty="0"/>
              <a:t>Swelling, absorption and de-absorption rate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2400" dirty="0"/>
              <a:t>Rigidity, thickness and poly-electrode analysis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GB" sz="2400" dirty="0"/>
              <a:t>M</a:t>
            </a:r>
            <a:r>
              <a:rPr lang="en-US" sz="2400" dirty="0" err="1"/>
              <a:t>ulti</a:t>
            </a:r>
            <a:r>
              <a:rPr lang="en-US" sz="2400" dirty="0"/>
              <a:t>-layer and it’s formation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2400" dirty="0"/>
              <a:t>Adhesivity and viscosity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2400" dirty="0"/>
              <a:t>Metal deposition</a:t>
            </a:r>
          </a:p>
          <a:p>
            <a:endParaRPr lang="en-US" sz="3200" b="1" dirty="0"/>
          </a:p>
        </p:txBody>
      </p:sp>
      <p:sp>
        <p:nvSpPr>
          <p:cNvPr id="7" name="TextBox 6"/>
          <p:cNvSpPr txBox="1"/>
          <p:nvPr/>
        </p:nvSpPr>
        <p:spPr>
          <a:xfrm>
            <a:off x="1713393" y="6516210"/>
            <a:ext cx="863797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dirty="0">
                <a:solidFill>
                  <a:schemeClr val="accent1"/>
                </a:solidFill>
              </a:rPr>
              <a:t>https://www.nanoscience.com/techniques/quartz-crystal-microbalance/</a:t>
            </a:r>
            <a:r>
              <a:rPr lang="en-US" sz="1400" dirty="0">
                <a:solidFill>
                  <a:schemeClr val="accent1"/>
                </a:solidFill>
              </a:rPr>
              <a:t>,</a:t>
            </a:r>
            <a:r>
              <a:rPr lang="en-GB" sz="1400" dirty="0">
                <a:solidFill>
                  <a:schemeClr val="accent1"/>
                </a:solidFill>
              </a:rPr>
              <a:t> https://encyclopedia.pub/entry/18165</a:t>
            </a:r>
            <a:endParaRPr lang="en-US" sz="1400" dirty="0">
              <a:solidFill>
                <a:schemeClr val="accent1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2902998" y="497150"/>
            <a:ext cx="334194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/>
              <a:t> </a:t>
            </a:r>
            <a:r>
              <a:rPr lang="en-US" sz="2800" b="1" dirty="0"/>
              <a:t>Applications of QCM</a:t>
            </a:r>
            <a:endParaRPr lang="en-US" sz="28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776189" y="1802167"/>
            <a:ext cx="173092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2100</TotalTime>
  <Words>1384</Words>
  <Application>Microsoft Office PowerPoint</Application>
  <PresentationFormat>Widescreen</PresentationFormat>
  <Paragraphs>152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6" baseType="lpstr">
      <vt:lpstr>Arial</vt:lpstr>
      <vt:lpstr>Calibri</vt:lpstr>
      <vt:lpstr>Calibri Light</vt:lpstr>
      <vt:lpstr>Cambria Math</vt:lpstr>
      <vt:lpstr>Wingdings</vt:lpstr>
      <vt:lpstr>Office Theme</vt:lpstr>
      <vt:lpstr>Formation of protein self assembled monolayer monitored by Quartz Crystal Micro-balance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Formation of protein self assembled  monolayer monitored by Quartz Crystal  Micro-balance</dc:title>
  <dc:creator>MD RAMJAN ALI</dc:creator>
  <cp:lastModifiedBy>MD RAMJAN ALI</cp:lastModifiedBy>
  <cp:revision>26</cp:revision>
  <dcterms:created xsi:type="dcterms:W3CDTF">2022-12-03T17:06:00Z</dcterms:created>
  <dcterms:modified xsi:type="dcterms:W3CDTF">2023-01-08T14:15:23Z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4CAC8FDEFFE547E6A29B5143761CD802</vt:lpwstr>
  </property>
  <property fmtid="{D5CDD505-2E9C-101B-9397-08002B2CF9AE}" pid="3" name="KSOProductBuildVer">
    <vt:lpwstr>1033-11.2.0.11440</vt:lpwstr>
  </property>
</Properties>
</file>